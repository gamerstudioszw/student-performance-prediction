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4b7a677e0274496" /><Relationship Type="http://schemas.openxmlformats.org/officeDocument/2006/relationships/extended-properties" Target="/docProps/app.xml" Id="R87ecab894e1d4d17" /><Relationship Type="http://schemas.openxmlformats.org/officeDocument/2006/relationships/officeDocument" Target="/ppt/presentation.xml" Id="R52af17b80bf9421b" /></Relationships>
</file>

<file path=ppt/presentation.xml><?xml version="1.0" encoding="utf-8"?>
<p:presentation xmlns:p="http://schemas.openxmlformats.org/presentationml/2006/main">
  <p:sldMasterIdLst>
    <p:sldMasterId xmlns:r="http://schemas.openxmlformats.org/officeDocument/2006/relationships" id="2147483648" r:id="R794cc3055845402b"/>
  </p:sldMasterIdLst>
  <p:notesMasterIdLst>
    <p:notesMasterId xmlns:r="http://schemas.openxmlformats.org/officeDocument/2006/relationships" r:id="R7323a3c6177a4d67"/>
  </p:notesMasterIdLst>
  <p:sldIdLst>
    <p:sldId xmlns:r="http://schemas.openxmlformats.org/officeDocument/2006/relationships" id="256" r:id="R055a640ccefe4f1e"/>
    <p:sldId xmlns:r="http://schemas.openxmlformats.org/officeDocument/2006/relationships" id="257" r:id="R01859fc6a0fb4899"/>
    <p:sldId xmlns:r="http://schemas.openxmlformats.org/officeDocument/2006/relationships" id="258" r:id="R2da6464260bb44a2"/>
    <p:sldId xmlns:r="http://schemas.openxmlformats.org/officeDocument/2006/relationships" id="259" r:id="Rb74257d0dc964533"/>
    <p:sldId xmlns:r="http://schemas.openxmlformats.org/officeDocument/2006/relationships" id="260" r:id="Rdb1501d190f44b84"/>
    <p:sldId xmlns:r="http://schemas.openxmlformats.org/officeDocument/2006/relationships" id="261" r:id="Rfe39c00ea79d4bd3"/>
    <p:sldId xmlns:r="http://schemas.openxmlformats.org/officeDocument/2006/relationships" id="262" r:id="Ra12fca6d65bb4f13"/>
    <p:sldId xmlns:r="http://schemas.openxmlformats.org/officeDocument/2006/relationships" id="263" r:id="Rd0b6c9d9f0144c54"/>
    <p:sldId xmlns:r="http://schemas.openxmlformats.org/officeDocument/2006/relationships" id="264" r:id="R7e66e167716c4ae0"/>
    <p:sldId xmlns:r="http://schemas.openxmlformats.org/officeDocument/2006/relationships" id="265" r:id="Rad2d972ed01241e4"/>
    <p:sldId xmlns:r="http://schemas.openxmlformats.org/officeDocument/2006/relationships" id="266" r:id="Rbfdeabc91a4742e3"/>
    <p:sldId xmlns:r="http://schemas.openxmlformats.org/officeDocument/2006/relationships" id="267" r:id="Re48884a0a1394a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089f0abfe649de" /><Relationship Type="http://schemas.openxmlformats.org/officeDocument/2006/relationships/slideMaster" Target="/ppt/slideMasters/slideMaster1.xml" Id="R794cc3055845402b" /><Relationship Type="http://schemas.openxmlformats.org/officeDocument/2006/relationships/notesMaster" Target="/ppt/notesMasters/notesMaster1.xml" Id="R7323a3c6177a4d67" /><Relationship Type="http://schemas.openxmlformats.org/officeDocument/2006/relationships/presProps" Target="/ppt/presProps.xml" Id="Rcf7359ed47d04bf7" /><Relationship Type="http://schemas.openxmlformats.org/officeDocument/2006/relationships/tableStyles" Target="/ppt/tableStyles.xml" Id="R0f79251ba2c84e06" /><Relationship Type="http://schemas.openxmlformats.org/officeDocument/2006/relationships/slide" Target="/ppt/slides/slide1.xml" Id="R055a640ccefe4f1e" /><Relationship Type="http://schemas.openxmlformats.org/officeDocument/2006/relationships/slide" Target="/ppt/slides/slide2.xml" Id="R01859fc6a0fb4899" /><Relationship Type="http://schemas.openxmlformats.org/officeDocument/2006/relationships/slide" Target="/ppt/slides/slide3.xml" Id="R2da6464260bb44a2" /><Relationship Type="http://schemas.openxmlformats.org/officeDocument/2006/relationships/slide" Target="/ppt/slides/slide4.xml" Id="Rb74257d0dc964533" /><Relationship Type="http://schemas.openxmlformats.org/officeDocument/2006/relationships/slide" Target="/ppt/slides/slide5.xml" Id="Rdb1501d190f44b84" /><Relationship Type="http://schemas.openxmlformats.org/officeDocument/2006/relationships/slide" Target="/ppt/slides/slide6.xml" Id="Rfe39c00ea79d4bd3" /><Relationship Type="http://schemas.openxmlformats.org/officeDocument/2006/relationships/slide" Target="/ppt/slides/slide7.xml" Id="Ra12fca6d65bb4f13" /><Relationship Type="http://schemas.openxmlformats.org/officeDocument/2006/relationships/slide" Target="/ppt/slides/slide8.xml" Id="Rd0b6c9d9f0144c54" /><Relationship Type="http://schemas.openxmlformats.org/officeDocument/2006/relationships/slide" Target="/ppt/slides/slide9.xml" Id="R7e66e167716c4ae0" /><Relationship Type="http://schemas.openxmlformats.org/officeDocument/2006/relationships/slide" Target="/ppt/slides/slide10.xml" Id="Rad2d972ed01241e4" /><Relationship Type="http://schemas.openxmlformats.org/officeDocument/2006/relationships/slide" Target="/ppt/slides/slide11.xml" Id="Rbfdeabc91a4742e3" /><Relationship Type="http://schemas.openxmlformats.org/officeDocument/2006/relationships/slide" Target="/ppt/slides/slide12.xml" Id="Re48884a0a1394a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ca636ffcf44f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a435aeb5694d6d" /><Relationship Type="http://schemas.openxmlformats.org/officeDocument/2006/relationships/notesMaster" Target="/ppt/notesMasters/notesMaster1.xml" Id="Ra957072bd8a644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fd27a67a3647f2" /><Relationship Type="http://schemas.openxmlformats.org/officeDocument/2006/relationships/notesMaster" Target="/ppt/notesMasters/notesMaster1.xml" Id="R788f946082b24e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039ff9c3a64f48" /><Relationship Type="http://schemas.openxmlformats.org/officeDocument/2006/relationships/notesMaster" Target="/ppt/notesMasters/notesMaster1.xml" Id="Rda6170efc99f4e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0e0990862b431d" /><Relationship Type="http://schemas.openxmlformats.org/officeDocument/2006/relationships/notesMaster" Target="/ppt/notesMasters/notesMaster1.xml" Id="R590a9b2f8b0248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2fc27c9b424001" /><Relationship Type="http://schemas.openxmlformats.org/officeDocument/2006/relationships/notesMaster" Target="/ppt/notesMasters/notesMaster1.xml" Id="R0b1fb7eba40941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9597da47aa4810" /><Relationship Type="http://schemas.openxmlformats.org/officeDocument/2006/relationships/notesMaster" Target="/ppt/notesMasters/notesMaster1.xml" Id="R7370918e7c2c47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530bf4e6304c6c" /><Relationship Type="http://schemas.openxmlformats.org/officeDocument/2006/relationships/notesMaster" Target="/ppt/notesMasters/notesMaster1.xml" Id="R366ef977a1d940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38be57b82b403d" /><Relationship Type="http://schemas.openxmlformats.org/officeDocument/2006/relationships/notesMaster" Target="/ppt/notesMasters/notesMaster1.xml" Id="R53cf3f4681c146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88d4c5186046f8" /><Relationship Type="http://schemas.openxmlformats.org/officeDocument/2006/relationships/notesMaster" Target="/ppt/notesMasters/notesMaster1.xml" Id="Ra71c2c8756f84a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875a0dbcdc44cd" /><Relationship Type="http://schemas.openxmlformats.org/officeDocument/2006/relationships/notesMaster" Target="/ppt/notesMasters/notesMaster1.xml" Id="R436f0ae1ac5247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fbaaf9ffb44950" /><Relationship Type="http://schemas.openxmlformats.org/officeDocument/2006/relationships/notesMaster" Target="/ppt/notesMasters/notesMaster1.xml" Id="Ra70700d939864b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16cb80d621400f" /><Relationship Type="http://schemas.openxmlformats.org/officeDocument/2006/relationships/notesMaster" Target="/ppt/notesMasters/notesMaster1.xml" Id="R002f89aa466245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group and project. The five milestones form the report chapters. Fill member names in the report before submission. Module: Artificial Intelligence and Intelligent System. Supervisor Mr C. Zano.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prescribed weeks are assessment milestones, not claims that earlier submissions occurred. Source: user-supplied milestone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defined use case without claiming institutional interviews. Sources: report Chapter 1; Romero and Ventura 2020, https://doi.org/10.1002/widm.1355; UCI https://archive.ics.uci.edu/dataset/320/student+performance.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Streamlit and notebooks call the same Python modules. Account storage remains separate from datasets and models. Private uploaded models stay outside shared public caches. Source: app.py, model.py, model_service.py and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seed 42; five identical validation folds in fitting data. Preprocessing fits only inside each fold. CV MAE selects. Within 0.02 points, prefer simpler procedure. Sources: model.py; https://scikit-learn.org/stable/common_pitfalls.html; https://arxiv.org/abs/2107.07511.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subjects select G2 without invoking the near-tie rule. The label is baseline forecast, with no learned predictive weights. Source: active schema 3 metrics.json comparison entries. Fold SD is variation, not a confidence interval.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reproduced expanded ridge with repaired G2 selection on reused test records. Portuguese RMSE increases and R2 decreases slightly. These are internal comparisons, not new independent confirmation. Source: preserved legacy audit and active schema 3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Nominal interval target 80%; constant radius 1, width 2. Not personalized uncertainty or passing probability. Alert positive is G3 strictly below reference; equality is not positive. Source: model.py and schema 3 test results. Method reference https://arxiv.org/abs/2107.07511.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sign in using authorized account, choose Mathematics, enter G2 12 with G1 blank, show forecast 12 and interval 11 to 13. Then show historical cohort label, filters and CSV. Do not present historical examples as current live students. Source: AppTest and project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notebook for reproducible modelling and exports. Drive support needs Google authorization. Local-folder tests passed; real Google account authorization remains a user action. Sources: notebook, notebook_storage.py, https://research.google.com/colaboratory/faq.html.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suite run on 26 October 2026: 56 tests, zero failures. App 12, auth 4, cohort 7, lite 6, model 12, service 6, notebook storage 5, subject training 4. These checks do not replace visual review or live institutional validation. Source: tests/ and executed unittest suite.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honest readiness. The report, slides, guide and code are prepared; group names/roles, rehearsal, live demo, real Google authorization and supervisor assessment still require user action. Do not call the assessed milestone formally complete before delivery. Repository: https://github.com/GamerStudioszw/Student-Performance-Prediction.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24ade14c7147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c3df6388a54b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58ad45a7f2a4f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d47c616f0544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50c913b1c74a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8e38a65fd1346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F8B451-B2F4-4B9B-ADFD-E6541D6219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FAB65CF-B5E0-493C-856B-773025B11C0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38FFBF-2D3B-4331-BB8D-BD30FD4737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C3BD40-117A-4676-A42F-AC3E76C5CC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9AFA6B-8B7B-4810-85FE-1D8F91C768B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629941-1A8C-4ADD-8FF0-F3E90798F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40D39B-2F48-4CD8-AF02-A7C903FDE7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2C68A19-352A-4D9E-B145-C401DA308BF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2F0774-E322-48EA-9304-92B0CBF8CE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7BF201-4229-4074-94FE-CFD92B1D48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9bbc1328bf491e" /><Relationship Type="http://schemas.openxmlformats.org/officeDocument/2006/relationships/slideLayout" Target="/ppt/slideLayouts/slideLayout1.xml" Id="R2986ae81cc1a4436" /><Relationship Type="http://schemas.openxmlformats.org/officeDocument/2006/relationships/slideLayout" Target="/ppt/slideLayouts/slideLayout2.xml" Id="R329faf9508e04f6d" /><Relationship Type="http://schemas.openxmlformats.org/officeDocument/2006/relationships/slideLayout" Target="/ppt/slideLayouts/slideLayout3.xml" Id="R4e8623ea72264f83" /><Relationship Type="http://schemas.openxmlformats.org/officeDocument/2006/relationships/slideLayout" Target="/ppt/slideLayouts/slideLayout4.xml" Id="R9c34967781a14975" /><Relationship Type="http://schemas.openxmlformats.org/officeDocument/2006/relationships/slideLayout" Target="/ppt/slideLayouts/slideLayout5.xml" Id="R889dd384c44c46a4" /><Relationship Type="http://schemas.openxmlformats.org/officeDocument/2006/relationships/slideLayout" Target="/ppt/slideLayouts/slideLayout6.xml" Id="R6025e8629c534f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86ae81cc1a4436"/>
    <p:sldLayoutId xmlns:r="http://schemas.openxmlformats.org/officeDocument/2006/relationships" id="2147483650" r:id="R329faf9508e04f6d"/>
    <p:sldLayoutId xmlns:r="http://schemas.openxmlformats.org/officeDocument/2006/relationships" id="2147483651" r:id="R4e8623ea72264f83"/>
    <p:sldLayoutId xmlns:r="http://schemas.openxmlformats.org/officeDocument/2006/relationships" id="2147483652" r:id="R9c34967781a14975"/>
    <p:sldLayoutId xmlns:r="http://schemas.openxmlformats.org/officeDocument/2006/relationships" id="2147483653" r:id="R889dd384c44c46a4"/>
    <p:sldLayoutId xmlns:r="http://schemas.openxmlformats.org/officeDocument/2006/relationships" id="2147483654" r:id="R6025e8629c534f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321c7dd00974759" /><Relationship Type="http://schemas.openxmlformats.org/officeDocument/2006/relationships/notesSlide" Target="/ppt/notesSlides/notesSlide1.xml" Id="Rafb1a8e22bc942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7f928438eb74db0" /><Relationship Type="http://schemas.openxmlformats.org/officeDocument/2006/relationships/notesSlide" Target="/ppt/notesSlides/notesSlide2.xml" Id="R1da1f961cf8344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2dab9f8f64c4efa" /><Relationship Type="http://schemas.openxmlformats.org/officeDocument/2006/relationships/notesSlide" Target="/ppt/notesSlides/notesSlide3.xml" Id="R21cf863e71a840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9ad6e4c6b94904" /><Relationship Type="http://schemas.openxmlformats.org/officeDocument/2006/relationships/image" Target="/ppt/media/image.png" Id="Rf586a9a2cb434d8c" /><Relationship Type="http://schemas.openxmlformats.org/officeDocument/2006/relationships/notesSlide" Target="/ppt/notesSlides/notesSlide4.xml" Id="R4fceda8596834a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6e9e89834464a3f" /><Relationship Type="http://schemas.openxmlformats.org/officeDocument/2006/relationships/notesSlide" Target="/ppt/notesSlides/notesSlide5.xml" Id="R6f1cb973254a49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e5d2a2e5004a2f" /><Relationship Type="http://schemas.openxmlformats.org/officeDocument/2006/relationships/chart" Target="/ppt/slides/charts/chart1.xml" Id="R952a018613fe40f0" /><Relationship Type="http://schemas.openxmlformats.org/officeDocument/2006/relationships/notesSlide" Target="/ppt/notesSlides/notesSlide6.xml" Id="R72813e4cfaa347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3796ae132e84919" /><Relationship Type="http://schemas.openxmlformats.org/officeDocument/2006/relationships/notesSlide" Target="/ppt/notesSlides/notesSlide7.xml" Id="R9202eb9a83df49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6e8d18dfd844b06" /><Relationship Type="http://schemas.openxmlformats.org/officeDocument/2006/relationships/notesSlide" Target="/ppt/notesSlides/notesSlide8.xml" Id="Rd5fe8baf27c94f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d7275297a84444c" /><Relationship Type="http://schemas.openxmlformats.org/officeDocument/2006/relationships/notesSlide" Target="/ppt/notesSlides/notesSlide9.xml" Id="Rd15c79e3075548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679e8f3c3c649cb" /><Relationship Type="http://schemas.openxmlformats.org/officeDocument/2006/relationships/notesSlide" Target="/ppt/notesSlides/notesSlide10.xml" Id="Rf1adc7ebd8e149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abe3e7ad5a94c19" /><Relationship Type="http://schemas.openxmlformats.org/officeDocument/2006/relationships/notesSlide" Target="/ppt/notesSlides/notesSlide11.xml" Id="R0adc36d043154f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383cb41b8f7416b" /><Relationship Type="http://schemas.openxmlformats.org/officeDocument/2006/relationships/notesSlide" Target="/ppt/notesSlides/notesSlide12.xml" Id="R6de2fdeea5c4487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Mathematics</c:v>
          </c:tx>
          <c:spPr>
            <a:solidFill xmlns:a="http://schemas.openxmlformats.org/drawingml/2006/main">
              <a:srgbClr val="087F8C"/>
            </a:solidFill>
          </c:spPr>
          <c:invertIfNegative val="0"/>
          <c:cat>
            <c:strRef>
              <c:f>'Chart Data'!$A$2:$A$7</c:f>
              <c:strCache>
                <c:ptCount val="6"/>
                <c:pt idx="0">
                  <c:v>G2</c:v>
                </c:pt>
                <c:pt idx="1">
                  <c:v>Mean</c:v>
                </c:pt>
                <c:pt idx="2">
                  <c:v>Ridge grades</c:v>
                </c:pt>
                <c:pt idx="3">
                  <c:v>Ridge expanded</c:v>
                </c:pt>
                <c:pt idx="4">
                  <c:v>Forest grades</c:v>
                </c:pt>
                <c:pt idx="5">
                  <c:v>Forest expanded</c:v>
                </c:pt>
              </c:strCache>
            </c:strRef>
          </c:cat>
          <c:val>
            <c:numRef>
              <c:f>'Chart Data'!$B$2:$B$7</c:f>
              <c:numCache>
                <c:formatCode>General</c:formatCode>
                <c:ptCount val="6"/>
                <c:pt idx="0">
                  <c:v>0.955053</c:v>
                </c:pt>
                <c:pt idx="1">
                  <c:v>3.540188</c:v>
                </c:pt>
                <c:pt idx="2">
                  <c:v>1.166717</c:v>
                </c:pt>
                <c:pt idx="3">
                  <c:v>1.196348</c:v>
                </c:pt>
                <c:pt idx="4">
                  <c:v>1.222571</c:v>
                </c:pt>
                <c:pt idx="5">
                  <c:v>1.27819</c:v>
                </c:pt>
              </c:numCache>
            </c:numRef>
          </c:val>
        </c:ser>
        <c:ser>
          <c:idx val="1"/>
          <c:order val="1"/>
          <c:tx>
            <c:v>Portuguese</c:v>
          </c:tx>
          <c:spPr>
            <a:solidFill xmlns:a="http://schemas.openxmlformats.org/drawingml/2006/main">
              <a:srgbClr val="AAC958"/>
            </a:solidFill>
          </c:spPr>
          <c:invertIfNegative val="0"/>
          <c:cat>
            <c:strRef>
              <c:f>'Chart Data'!$C$2:$C$7</c:f>
              <c:strCache>
                <c:ptCount val="6"/>
                <c:pt idx="0">
                  <c:v>G2</c:v>
                </c:pt>
                <c:pt idx="1">
                  <c:v>Mean</c:v>
                </c:pt>
                <c:pt idx="2">
                  <c:v>Ridge grades</c:v>
                </c:pt>
                <c:pt idx="3">
                  <c:v>Ridge expanded</c:v>
                </c:pt>
                <c:pt idx="4">
                  <c:v>Forest grades</c:v>
                </c:pt>
                <c:pt idx="5">
                  <c:v>Forest expanded</c:v>
                </c:pt>
              </c:strCache>
            </c:strRef>
          </c:cat>
          <c:val>
            <c:numRef>
              <c:f>'Chart Data'!$D$2:$D$7</c:f>
              <c:numCache>
                <c:formatCode>General</c:formatCode>
                <c:ptCount val="6"/>
                <c:pt idx="0">
                  <c:v>0.797003</c:v>
                </c:pt>
                <c:pt idx="1">
                  <c:v>2.502044</c:v>
                </c:pt>
                <c:pt idx="2">
                  <c:v>0.826574</c:v>
                </c:pt>
                <c:pt idx="3">
                  <c:v>0.838596</c:v>
                </c:pt>
                <c:pt idx="4">
                  <c:v>0.866417</c:v>
                </c:pt>
                <c:pt idx="5">
                  <c:v>0.914345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9D9D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Validation MAE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061A2F-EE85-438A-ABA0-7DD329F4D873}"/>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StudentInsight</a:t>
            </a:r>
          </a:p>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Student Performance Prediction</a:t>
            </a:r>
          </a:p>
        </p:txBody>
      </p:sp>
      <p:sp>
        <p:nvSpPr>
          <p:cNvPr id="2" name="">
            <a:extLst xmlns:a="http://schemas.openxmlformats.org/drawingml/2006/main">
              <a:ext uri="{FF2B5EF4-FFF2-40B4-BE49-F238E27FC236}">
                <a16:creationId xmlns:a16="http://schemas.microsoft.com/office/drawing/2014/main" id="{988C3FAE-2663-422B-92F4-ADB9336BC3A5}"/>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Bindura University of Science Education</a:t>
            </a:r>
          </a:p>
        </p:txBody>
      </p:sp>
      <p:sp>
        <p:nvSpPr>
          <p:cNvPr id="3" name="">
            <a:extLst xmlns:a="http://schemas.openxmlformats.org/drawingml/2006/main">
              <a:ext uri="{FF2B5EF4-FFF2-40B4-BE49-F238E27FC236}">
                <a16:creationId xmlns:a16="http://schemas.microsoft.com/office/drawing/2014/main" id="{818B3253-46C8-439E-8199-DA094EC48495}"/>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0687F7F7-598A-46F6-9EFF-EA16B937FC72}"/>
              </a:ext>
            </a:extLst>
          </p:cNvPr>
          <p:cNvSpPr>
            <a:spLocks xmlns:a="http://schemas.openxmlformats.org/drawingml/2006/main" noGrp="1"/>
          </p:cNvSpPr>
          <p:nvPr/>
        </p:nvSpPr>
        <p:spPr>
          <a:xfrm xmlns:a="http://schemas.openxmlformats.org/drawingml/2006/main">
            <a:off x="609600" y="25241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Network Engineering</a:t>
            </a:r>
          </a:p>
        </p:txBody>
      </p:sp>
      <p:sp>
        <p:nvSpPr>
          <p:cNvPr id="5" name="">
            <a:extLst xmlns:a="http://schemas.openxmlformats.org/drawingml/2006/main">
              <a:ext uri="{FF2B5EF4-FFF2-40B4-BE49-F238E27FC236}">
                <a16:creationId xmlns:a16="http://schemas.microsoft.com/office/drawing/2014/main" id="{18825178-508A-4B62-933D-39ABC56F2EB0}"/>
              </a:ext>
            </a:extLst>
          </p:cNvPr>
          <p:cNvSpPr>
            <a:spLocks xmlns:a="http://schemas.openxmlformats.org/drawingml/2006/main" noGrp="1"/>
          </p:cNvSpPr>
          <p:nvPr/>
        </p:nvSpPr>
        <p:spPr>
          <a:xfrm xmlns:a="http://schemas.openxmlformats.org/drawingml/2006/main">
            <a:off x="609600" y="3143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844"/>
                </a:solidFill>
                <a:latin typeface="Arial"/>
                <a:ea typeface="Arial"/>
                <a:cs typeface="Arial"/>
              </a:defRPr>
            </a:defPPr>
            <a:lvl1pPr>
              <a:defRPr sz="2250" b="0">
                <a:solidFill>
                  <a:srgbClr val="183844"/>
                </a:solidFill>
                <a:latin typeface="Arial"/>
                <a:ea typeface="Arial"/>
                <a:cs typeface="Arial"/>
              </a:defRPr>
            </a:lvl1pPr>
            <a:lvl2pPr>
              <a:defRPr sz="2250" b="0">
                <a:solidFill>
                  <a:srgbClr val="183844"/>
                </a:solidFill>
                <a:latin typeface="Arial"/>
                <a:ea typeface="Arial"/>
                <a:cs typeface="Arial"/>
              </a:defRPr>
            </a:lvl2pPr>
            <a:lvl3pPr>
              <a:defRPr sz="2250" b="0">
                <a:solidFill>
                  <a:srgbClr val="183844"/>
                </a:solidFill>
                <a:latin typeface="Arial"/>
                <a:ea typeface="Arial"/>
                <a:cs typeface="Arial"/>
              </a:defRPr>
            </a:lvl3pPr>
            <a:lvl4pPr>
              <a:defRPr sz="2250" b="0">
                <a:solidFill>
                  <a:srgbClr val="183844"/>
                </a:solidFill>
                <a:latin typeface="Arial"/>
                <a:ea typeface="Arial"/>
                <a:cs typeface="Arial"/>
              </a:defRPr>
            </a:lvl4pPr>
            <a:lvl5pPr>
              <a:defRPr sz="2250" b="0">
                <a:solidFill>
                  <a:srgbClr val="183844"/>
                </a:solidFill>
                <a:latin typeface="Arial"/>
                <a:ea typeface="Arial"/>
                <a:cs typeface="Arial"/>
              </a:defRPr>
            </a:lvl5pPr>
            <a:lvl6pPr>
              <a:defRPr sz="2250" b="0">
                <a:solidFill>
                  <a:srgbClr val="183844"/>
                </a:solidFill>
                <a:latin typeface="Arial"/>
                <a:ea typeface="Arial"/>
                <a:cs typeface="Arial"/>
              </a:defRPr>
            </a:lvl6pPr>
            <a:lvl7pPr>
              <a:defRPr sz="2250" b="0">
                <a:solidFill>
                  <a:srgbClr val="183844"/>
                </a:solidFill>
                <a:latin typeface="Arial"/>
                <a:ea typeface="Arial"/>
                <a:cs typeface="Arial"/>
              </a:defRPr>
            </a:lvl7pPr>
            <a:lvl8pPr>
              <a:defRPr sz="2250" b="0">
                <a:solidFill>
                  <a:srgbClr val="183844"/>
                </a:solidFill>
                <a:latin typeface="Arial"/>
                <a:ea typeface="Arial"/>
                <a:cs typeface="Arial"/>
              </a:defRPr>
            </a:lvl8pPr>
            <a:lvl9pPr>
              <a:defRPr sz="2250" b="0">
                <a:solidFill>
                  <a:srgbClr val="183844"/>
                </a:solidFill>
                <a:latin typeface="Arial"/>
                <a:ea typeface="Arial"/>
                <a:cs typeface="Arial"/>
              </a:defRPr>
            </a:lvl9pPr>
          </a:lstStyle>
          <a:p xmlns:a="http://schemas.openxmlformats.org/drawingml/2006/main">
            <a:pPr>
              <a:defRPr sz="2250" b="0">
                <a:solidFill>
                  <a:srgbClr val="183844"/>
                </a:solidFill>
                <a:latin typeface="Arial"/>
                <a:ea typeface="Arial"/>
                <a:cs typeface="Arial"/>
              </a:defRPr>
            </a:pPr>
            <a:r>
              <a:rPr sz="2250" b="0">
                <a:solidFill>
                  <a:srgbClr val="183844"/>
                </a:solidFill>
                <a:latin typeface="Arial"/>
                <a:ea typeface="Arial"/>
                <a:cs typeface="Arial"/>
              </a:rPr>
              <a:t>Artificial Intelligence and Intelligent System</a:t>
            </a:r>
          </a:p>
        </p:txBody>
      </p:sp>
      <p:sp>
        <p:nvSpPr>
          <p:cNvPr id="6" name="">
            <a:extLst xmlns:a="http://schemas.openxmlformats.org/drawingml/2006/main">
              <a:ext uri="{FF2B5EF4-FFF2-40B4-BE49-F238E27FC236}">
                <a16:creationId xmlns:a16="http://schemas.microsoft.com/office/drawing/2014/main" id="{38368F46-3657-48DD-B38A-7C60559BFD9E}"/>
              </a:ext>
            </a:extLst>
          </p:cNvPr>
          <p:cNvSpPr>
            <a:spLocks xmlns:a="http://schemas.openxmlformats.org/drawingml/2006/main" noGrp="1"/>
          </p:cNvSpPr>
          <p:nvPr/>
        </p:nvSpPr>
        <p:spPr>
          <a:xfrm xmlns:a="http://schemas.openxmlformats.org/drawingml/2006/main">
            <a:off x="609600" y="40957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844"/>
                </a:solidFill>
                <a:latin typeface="Arial"/>
                <a:ea typeface="Arial"/>
                <a:cs typeface="Arial"/>
              </a:defRPr>
            </a:defPPr>
            <a:lvl1pPr>
              <a:defRPr sz="2025" b="0">
                <a:solidFill>
                  <a:srgbClr val="183844"/>
                </a:solidFill>
                <a:latin typeface="Arial"/>
                <a:ea typeface="Arial"/>
                <a:cs typeface="Arial"/>
              </a:defRPr>
            </a:lvl1pPr>
            <a:lvl2pPr>
              <a:defRPr sz="2025" b="0">
                <a:solidFill>
                  <a:srgbClr val="183844"/>
                </a:solidFill>
                <a:latin typeface="Arial"/>
                <a:ea typeface="Arial"/>
                <a:cs typeface="Arial"/>
              </a:defRPr>
            </a:lvl2pPr>
            <a:lvl3pPr>
              <a:defRPr sz="2025" b="0">
                <a:solidFill>
                  <a:srgbClr val="183844"/>
                </a:solidFill>
                <a:latin typeface="Arial"/>
                <a:ea typeface="Arial"/>
                <a:cs typeface="Arial"/>
              </a:defRPr>
            </a:lvl3pPr>
            <a:lvl4pPr>
              <a:defRPr sz="2025" b="0">
                <a:solidFill>
                  <a:srgbClr val="183844"/>
                </a:solidFill>
                <a:latin typeface="Arial"/>
                <a:ea typeface="Arial"/>
                <a:cs typeface="Arial"/>
              </a:defRPr>
            </a:lvl4pPr>
            <a:lvl5pPr>
              <a:defRPr sz="2025" b="0">
                <a:solidFill>
                  <a:srgbClr val="183844"/>
                </a:solidFill>
                <a:latin typeface="Arial"/>
                <a:ea typeface="Arial"/>
                <a:cs typeface="Arial"/>
              </a:defRPr>
            </a:lvl5pPr>
            <a:lvl6pPr>
              <a:defRPr sz="2025" b="0">
                <a:solidFill>
                  <a:srgbClr val="183844"/>
                </a:solidFill>
                <a:latin typeface="Arial"/>
                <a:ea typeface="Arial"/>
                <a:cs typeface="Arial"/>
              </a:defRPr>
            </a:lvl6pPr>
            <a:lvl7pPr>
              <a:defRPr sz="2025" b="0">
                <a:solidFill>
                  <a:srgbClr val="183844"/>
                </a:solidFill>
                <a:latin typeface="Arial"/>
                <a:ea typeface="Arial"/>
                <a:cs typeface="Arial"/>
              </a:defRPr>
            </a:lvl7pPr>
            <a:lvl8pPr>
              <a:defRPr sz="2025" b="0">
                <a:solidFill>
                  <a:srgbClr val="183844"/>
                </a:solidFill>
                <a:latin typeface="Arial"/>
                <a:ea typeface="Arial"/>
                <a:cs typeface="Arial"/>
              </a:defRPr>
            </a:lvl8pPr>
            <a:lvl9pPr>
              <a:defRPr sz="2025" b="0">
                <a:solidFill>
                  <a:srgbClr val="183844"/>
                </a:solidFill>
                <a:latin typeface="Arial"/>
                <a:ea typeface="Arial"/>
                <a:cs typeface="Arial"/>
              </a:defRPr>
            </a:lvl9pPr>
          </a:lstStyle>
          <a:p xmlns:a="http://schemas.openxmlformats.org/drawingml/2006/main">
            <a:pPr>
              <a:defRPr sz="2025" b="0">
                <a:solidFill>
                  <a:srgbClr val="183844"/>
                </a:solidFill>
                <a:latin typeface="Arial"/>
                <a:ea typeface="Arial"/>
                <a:cs typeface="Arial"/>
              </a:defRPr>
            </a:pPr>
            <a:r>
              <a:rPr sz="2025" b="0">
                <a:solidFill>
                  <a:srgbClr val="183844"/>
                </a:solidFill>
                <a:latin typeface="Arial"/>
                <a:ea typeface="Arial"/>
                <a:cs typeface="Arial"/>
              </a:rPr>
              <a:t>Group project</a:t>
            </a:r>
          </a:p>
          <a:p xmlns:a="http://schemas.openxmlformats.org/drawingml/2006/main">
            <a:pPr>
              <a:defRPr sz="2025" b="0">
                <a:solidFill>
                  <a:srgbClr val="183844"/>
                </a:solidFill>
                <a:latin typeface="Arial"/>
                <a:ea typeface="Arial"/>
                <a:cs typeface="Arial"/>
              </a:defRPr>
            </a:pPr>
            <a:r>
              <a:rPr sz="2025" b="0">
                <a:solidFill>
                  <a:srgbClr val="183844"/>
                </a:solidFill>
                <a:latin typeface="Arial"/>
                <a:ea typeface="Arial"/>
                <a:cs typeface="Arial"/>
              </a:rPr>
              <a:t>Supervisor Mr C. Zano</a:t>
            </a:r>
          </a:p>
          <a:p xmlns:a="http://schemas.openxmlformats.org/drawingml/2006/main">
            <a:pPr>
              <a:defRPr sz="2025" b="0">
                <a:solidFill>
                  <a:srgbClr val="183844"/>
                </a:solidFill>
                <a:latin typeface="Arial"/>
                <a:ea typeface="Arial"/>
                <a:cs typeface="Arial"/>
              </a:defRPr>
            </a:pPr>
            <a:r>
              <a:rPr sz="2025" b="0">
                <a:solidFill>
                  <a:srgbClr val="183844"/>
                </a:solidFill>
                <a:latin typeface="Arial"/>
                <a:ea typeface="Arial"/>
                <a:cs typeface="Arial"/>
              </a:rPr>
              <a:t>26 October 2026</a:t>
            </a:r>
          </a:p>
        </p:txBody>
      </p:sp>
    </p:spTree>
    <p:extLst>
      <p:ext uri="{BB962C8B-B14F-4D97-AF65-F5344CB8AC3E}">
        <p14:creationId xmlns:p14="http://schemas.microsoft.com/office/powerpoint/2010/main" val="18906170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217BF9-6C07-4314-B215-53A8B7135464}"/>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Five milestones form five chapters</a:t>
            </a:r>
          </a:p>
        </p:txBody>
      </p:sp>
      <p:sp>
        <p:nvSpPr>
          <p:cNvPr id="2" name="">
            <a:extLst xmlns:a="http://schemas.openxmlformats.org/drawingml/2006/main">
              <a:ext uri="{FF2B5EF4-FFF2-40B4-BE49-F238E27FC236}">
                <a16:creationId xmlns:a16="http://schemas.microsoft.com/office/drawing/2014/main" id="{B1CD11A2-91E4-40F0-84CE-BE9B70D3158B}"/>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Project structure</a:t>
            </a:r>
          </a:p>
        </p:txBody>
      </p:sp>
      <p:sp>
        <p:nvSpPr>
          <p:cNvPr id="3" name="">
            <a:extLst xmlns:a="http://schemas.openxmlformats.org/drawingml/2006/main">
              <a:ext uri="{FF2B5EF4-FFF2-40B4-BE49-F238E27FC236}">
                <a16:creationId xmlns:a16="http://schemas.microsoft.com/office/drawing/2014/main" id="{D9E5C2C1-8F57-4B38-A2ED-8ABF87FB2FB7}"/>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2</a:t>
            </a:r>
          </a:p>
        </p:txBody>
      </p:sp>
      <p:graphicFrame>
        <p:nvGraphicFramePr>
          <p:cNvPr id="4" name="">
            <a:extLst xmlns:a="http://schemas.openxmlformats.org/drawingml/2006/main">
              <a:ext uri="{FF2B5EF4-FFF2-40B4-BE49-F238E27FC236}">
                <a16:creationId xmlns:a16="http://schemas.microsoft.com/office/drawing/2014/main" id="{B272267C-2EDC-4753-BC7C-F9A7E05007EF}"/>
              </a:ext>
            </a:extLst>
          </p:cNvPr>
          <p:cNvGraphicFramePr/>
          <p:nvPr/>
        </p:nvGraphicFramePr>
        <p:xfrm>
          <a:off xmlns:a="http://schemas.openxmlformats.org/drawingml/2006/main" x="609600" y="1714500"/>
          <a:ext xmlns:a="http://schemas.openxmlformats.org/drawingml/2006/main" cx="10972800" cy="3905250"/>
        </p:xfrm>
        <a:graphic xmlns:a="http://schemas.openxmlformats.org/drawingml/2006/main">
          <a:graphicData uri="http://schemas.openxmlformats.org/drawingml/2006/table">
            <a:tbl>
              <a:tblPr/>
              <a:tblGrid>
                <a:gridCol w="1428750"/>
                <a:gridCol w="2857500"/>
                <a:gridCol w="6686550"/>
              </a:tblGrid>
              <a:tr h="650875">
                <a:tc>
                  <a:txBody>
                    <a:bodyPr/>
                    <a:lstStyle/>
                    <a:p>
                      <a:r>
                        <a:rPr sz="1725" b="1">
                          <a:solidFill>
                            <a:srgbClr val="FFFFFF"/>
                          </a:solidFill>
                          <a:latin typeface="Arial"/>
                          <a:ea typeface="Arial"/>
                          <a:cs typeface="Arial"/>
                        </a:rPr>
                        <a:t>Chapter</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c>
                  <a:txBody>
                    <a:bodyPr/>
                    <a:lstStyle/>
                    <a:p>
                      <a:r>
                        <a:rPr sz="1725" b="1">
                          <a:solidFill>
                            <a:srgbClr val="FFFFFF"/>
                          </a:solidFill>
                          <a:latin typeface="Arial"/>
                          <a:ea typeface="Arial"/>
                          <a:cs typeface="Arial"/>
                        </a:rPr>
                        <a:t>Milestone</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c>
                  <a:txBody>
                    <a:bodyPr/>
                    <a:lstStyle/>
                    <a:p>
                      <a:r>
                        <a:rPr sz="1725" b="1">
                          <a:solidFill>
                            <a:srgbClr val="FFFFFF"/>
                          </a:solidFill>
                          <a:latin typeface="Arial"/>
                          <a:ea typeface="Arial"/>
                          <a:cs typeface="Arial"/>
                        </a:rPr>
                        <a:t>Evidence</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r>
              <a:tr h="650875">
                <a:tc>
                  <a:txBody>
                    <a:bodyPr/>
                    <a:lstStyle/>
                    <a:p>
                      <a:r>
                        <a:rPr sz="1725" b="0">
                          <a:solidFill>
                            <a:srgbClr val="183844"/>
                          </a:solidFill>
                          <a:latin typeface="Arial"/>
                          <a:ea typeface="Arial"/>
                          <a:cs typeface="Arial"/>
                        </a:rPr>
                        <a:t>1</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Proposal  Week 4</a:t>
                      </a:r>
                    </a:p>
                  </a:txBody>
                  <a:tcPr marL="91440" marR="91440" marT="45720" marB="45720">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Problem, objectives, method and literature</a:t>
                      </a:r>
                    </a:p>
                  </a:txBody>
                  <a:tcPr marL="91440" marR="91440" marT="45720" marB="45720">
                    <a:lnR w="9525">
                      <a:solidFill>
                        <a:srgbClr val="D9D9D9"/>
                      </a:solidFill>
                      <a:prstDash val="solid"/>
                    </a:lnR>
                    <a:lnB w="9525">
                      <a:solidFill>
                        <a:srgbClr val="D9D9D9"/>
                      </a:solidFill>
                      <a:prstDash val="solid"/>
                    </a:lnB>
                    <a:solidFill>
                      <a:srgbClr val="F1F5F6"/>
                    </a:solidFill>
                  </a:tcPr>
                </a:tc>
              </a:tr>
              <a:tr h="650875">
                <a:tc>
                  <a:txBody>
                    <a:bodyPr/>
                    <a:lstStyle/>
                    <a:p>
                      <a:r>
                        <a:rPr sz="1725" b="0">
                          <a:solidFill>
                            <a:srgbClr val="183844"/>
                          </a:solidFill>
                          <a:latin typeface="Arial"/>
                          <a:ea typeface="Arial"/>
                          <a:cs typeface="Arial"/>
                        </a:rPr>
                        <a:t>2</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Design  Week 7</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Architecture, pipeline, algorithms and ethics</a:t>
                      </a:r>
                    </a:p>
                  </a:txBody>
                  <a:tcPr marL="91440" marR="91440" marT="45720" marB="45720">
                    <a:lnR w="9525">
                      <a:solidFill>
                        <a:srgbClr val="D9D9D9"/>
                      </a:solidFill>
                      <a:prstDash val="solid"/>
                    </a:lnR>
                    <a:lnB w="9525">
                      <a:solidFill>
                        <a:srgbClr val="D9D9D9"/>
                      </a:solidFill>
                      <a:prstDash val="solid"/>
                    </a:lnB>
                    <a:solidFill>
                      <a:srgbClr val="FFFFFF"/>
                    </a:solidFill>
                  </a:tcPr>
                </a:tc>
              </a:tr>
              <a:tr h="650875">
                <a:tc>
                  <a:txBody>
                    <a:bodyPr/>
                    <a:lstStyle/>
                    <a:p>
                      <a:r>
                        <a:rPr sz="1725" b="0">
                          <a:solidFill>
                            <a:srgbClr val="183844"/>
                          </a:solidFill>
                          <a:latin typeface="Arial"/>
                          <a:ea typeface="Arial"/>
                          <a:cs typeface="Arial"/>
                        </a:rPr>
                        <a:t>3</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Prototype  Week 10</a:t>
                      </a:r>
                    </a:p>
                  </a:txBody>
                  <a:tcPr marL="91440" marR="91440" marT="45720" marB="45720">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Working model and measured evaluation</a:t>
                      </a:r>
                    </a:p>
                  </a:txBody>
                  <a:tcPr marL="91440" marR="91440" marT="45720" marB="45720">
                    <a:lnR w="9525">
                      <a:solidFill>
                        <a:srgbClr val="D9D9D9"/>
                      </a:solidFill>
                      <a:prstDash val="solid"/>
                    </a:lnR>
                    <a:lnB w="9525">
                      <a:solidFill>
                        <a:srgbClr val="D9D9D9"/>
                      </a:solidFill>
                      <a:prstDash val="solid"/>
                    </a:lnB>
                    <a:solidFill>
                      <a:srgbClr val="F1F5F6"/>
                    </a:solidFill>
                  </a:tcPr>
                </a:tc>
              </a:tr>
              <a:tr h="650875">
                <a:tc>
                  <a:txBody>
                    <a:bodyPr/>
                    <a:lstStyle/>
                    <a:p>
                      <a:r>
                        <a:rPr sz="1725" b="0">
                          <a:solidFill>
                            <a:srgbClr val="183844"/>
                          </a:solidFill>
                          <a:latin typeface="Arial"/>
                          <a:ea typeface="Arial"/>
                          <a:cs typeface="Arial"/>
                        </a:rPr>
                        <a:t>4</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Integration  Week 13</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App, tests, notebooks and repository</a:t>
                      </a:r>
                    </a:p>
                  </a:txBody>
                  <a:tcPr marL="91440" marR="91440" marT="45720" marB="45720">
                    <a:lnR w="9525">
                      <a:solidFill>
                        <a:srgbClr val="D9D9D9"/>
                      </a:solidFill>
                      <a:prstDash val="solid"/>
                    </a:lnR>
                    <a:lnB w="9525">
                      <a:solidFill>
                        <a:srgbClr val="D9D9D9"/>
                      </a:solidFill>
                      <a:prstDash val="solid"/>
                    </a:lnB>
                    <a:solidFill>
                      <a:srgbClr val="FFFFFF"/>
                    </a:solidFill>
                  </a:tcPr>
                </a:tc>
              </a:tr>
              <a:tr h="650875">
                <a:tc>
                  <a:txBody>
                    <a:bodyPr/>
                    <a:lstStyle/>
                    <a:p>
                      <a:r>
                        <a:rPr sz="1725" b="0">
                          <a:solidFill>
                            <a:srgbClr val="183844"/>
                          </a:solidFill>
                          <a:latin typeface="Arial"/>
                          <a:ea typeface="Arial"/>
                          <a:cs typeface="Arial"/>
                        </a:rPr>
                        <a:t>5</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Final  Week 15</a:t>
                      </a:r>
                    </a:p>
                  </a:txBody>
                  <a:tcPr marL="91440" marR="91440" marT="45720" marB="45720">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Report, slides and 15-minute demonstration</a:t>
                      </a:r>
                    </a:p>
                  </a:txBody>
                  <a:tcPr marL="91440" marR="91440" marT="45720" marB="45720">
                    <a:lnR w="9525">
                      <a:solidFill>
                        <a:srgbClr val="D9D9D9"/>
                      </a:solidFill>
                      <a:prstDash val="solid"/>
                    </a:lnR>
                    <a:lnB w="9525">
                      <a:solidFill>
                        <a:srgbClr val="D9D9D9"/>
                      </a:solidFill>
                      <a:prstDash val="solid"/>
                    </a:lnB>
                    <a:solidFill>
                      <a:srgbClr val="F1F5F6"/>
                    </a:solidFill>
                  </a:tcPr>
                </a:tc>
              </a:tr>
            </a:tbl>
          </a:graphicData>
        </a:graphic>
      </p:graphicFrame>
    </p:spTree>
    <p:extLst>
      <p:ext uri="{BB962C8B-B14F-4D97-AF65-F5344CB8AC3E}">
        <p14:creationId xmlns:p14="http://schemas.microsoft.com/office/powerpoint/2010/main" val="10554568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36EFEE-7FA5-45A2-A338-F6C7F0D5A525}"/>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Staff need interpretable evidence</a:t>
            </a:r>
          </a:p>
        </p:txBody>
      </p:sp>
      <p:sp>
        <p:nvSpPr>
          <p:cNvPr id="2" name="">
            <a:extLst xmlns:a="http://schemas.openxmlformats.org/drawingml/2006/main">
              <a:ext uri="{FF2B5EF4-FFF2-40B4-BE49-F238E27FC236}">
                <a16:creationId xmlns:a16="http://schemas.microsoft.com/office/drawing/2014/main" id="{D581F1CE-B81A-4EAC-BFE7-E04D9B8E6257}"/>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Chapter 1  Proposal</a:t>
            </a:r>
          </a:p>
        </p:txBody>
      </p:sp>
      <p:sp>
        <p:nvSpPr>
          <p:cNvPr id="3" name="">
            <a:extLst xmlns:a="http://schemas.openxmlformats.org/drawingml/2006/main">
              <a:ext uri="{FF2B5EF4-FFF2-40B4-BE49-F238E27FC236}">
                <a16:creationId xmlns:a16="http://schemas.microsoft.com/office/drawing/2014/main" id="{05F3CD2F-E927-47E2-9FA6-9CBC0FE2CE9C}"/>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5EFBC0D5-7CF2-4BD2-9F90-5AC1DEAF2B8A}"/>
              </a:ext>
            </a:extLst>
          </p:cNvPr>
          <p:cNvSpPr>
            <a:spLocks xmlns:a="http://schemas.openxmlformats.org/drawingml/2006/main" noGrp="1"/>
          </p:cNvSpPr>
          <p:nvPr/>
        </p:nvSpPr>
        <p:spPr>
          <a:xfrm xmlns:a="http://schemas.openxmlformats.org/drawingml/2006/main">
            <a:off x="628650" y="1838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6F3186A-E290-45C2-8683-F33DF286CA42}"/>
              </a:ext>
            </a:extLst>
          </p:cNvPr>
          <p:cNvSpPr>
            <a:spLocks xmlns:a="http://schemas.openxmlformats.org/drawingml/2006/main" noGrp="1"/>
          </p:cNvSpPr>
          <p:nvPr/>
        </p:nvSpPr>
        <p:spPr>
          <a:xfrm xmlns:a="http://schemas.openxmlformats.org/drawingml/2006/main">
            <a:off x="1428750" y="180975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Estimate final grades after period two.</a:t>
            </a:r>
          </a:p>
        </p:txBody>
      </p:sp>
      <p:sp>
        <p:nvSpPr>
          <p:cNvPr id="6" name="">
            <a:extLst xmlns:a="http://schemas.openxmlformats.org/drawingml/2006/main">
              <a:ext uri="{FF2B5EF4-FFF2-40B4-BE49-F238E27FC236}">
                <a16:creationId xmlns:a16="http://schemas.microsoft.com/office/drawing/2014/main" id="{A669290A-1546-4EB1-8488-AE0312DA9A3F}"/>
              </a:ext>
            </a:extLst>
          </p:cNvPr>
          <p:cNvSpPr>
            <a:spLocks xmlns:a="http://schemas.openxmlformats.org/drawingml/2006/main" noGrp="1"/>
          </p:cNvSpPr>
          <p:nvPr/>
        </p:nvSpPr>
        <p:spPr>
          <a:xfrm xmlns:a="http://schemas.openxmlformats.org/drawingml/2006/main">
            <a:off x="628650" y="27051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5AF4C0A-46F4-4951-A25D-043F753FCAC1}"/>
              </a:ext>
            </a:extLst>
          </p:cNvPr>
          <p:cNvSpPr>
            <a:spLocks xmlns:a="http://schemas.openxmlformats.org/drawingml/2006/main" noGrp="1"/>
          </p:cNvSpPr>
          <p:nvPr/>
        </p:nvSpPr>
        <p:spPr>
          <a:xfrm xmlns:a="http://schemas.openxmlformats.org/drawingml/2006/main">
            <a:off x="1428750" y="2676525"/>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Support teachers, lecturers and school leadership.</a:t>
            </a:r>
          </a:p>
        </p:txBody>
      </p:sp>
      <p:sp>
        <p:nvSpPr>
          <p:cNvPr id="8" name="">
            <a:extLst xmlns:a="http://schemas.openxmlformats.org/drawingml/2006/main">
              <a:ext uri="{FF2B5EF4-FFF2-40B4-BE49-F238E27FC236}">
                <a16:creationId xmlns:a16="http://schemas.microsoft.com/office/drawing/2014/main" id="{E0306D79-3A6C-4FEC-8F96-79528D1A4CE8}"/>
              </a:ext>
            </a:extLst>
          </p:cNvPr>
          <p:cNvSpPr>
            <a:spLocks xmlns:a="http://schemas.openxmlformats.org/drawingml/2006/main" noGrp="1"/>
          </p:cNvSpPr>
          <p:nvPr/>
        </p:nvSpPr>
        <p:spPr>
          <a:xfrm xmlns:a="http://schemas.openxmlformats.org/drawingml/2006/main">
            <a:off x="628650" y="35718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6E9F619C-6E2C-4016-994F-2D395A0DEE54}"/>
              </a:ext>
            </a:extLst>
          </p:cNvPr>
          <p:cNvSpPr>
            <a:spLocks xmlns:a="http://schemas.openxmlformats.org/drawingml/2006/main" noGrp="1"/>
          </p:cNvSpPr>
          <p:nvPr/>
        </p:nvSpPr>
        <p:spPr>
          <a:xfrm xmlns:a="http://schemas.openxmlformats.org/drawingml/2006/main">
            <a:off x="1428750" y="35433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Compare learned candidates with strong simple baselines.</a:t>
            </a:r>
          </a:p>
        </p:txBody>
      </p:sp>
      <p:sp>
        <p:nvSpPr>
          <p:cNvPr id="10" name="">
            <a:extLst xmlns:a="http://schemas.openxmlformats.org/drawingml/2006/main">
              <a:ext uri="{FF2B5EF4-FFF2-40B4-BE49-F238E27FC236}">
                <a16:creationId xmlns:a16="http://schemas.microsoft.com/office/drawing/2014/main" id="{89B16271-1811-4A20-B674-3B0398670A26}"/>
              </a:ext>
            </a:extLst>
          </p:cNvPr>
          <p:cNvSpPr>
            <a:spLocks xmlns:a="http://schemas.openxmlformats.org/drawingml/2006/main" noGrp="1"/>
          </p:cNvSpPr>
          <p:nvPr/>
        </p:nvSpPr>
        <p:spPr>
          <a:xfrm xmlns:a="http://schemas.openxmlformats.org/drawingml/2006/main">
            <a:off x="628650" y="4438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AED569CE-5778-4A13-8E0B-9785F417BBF1}"/>
              </a:ext>
            </a:extLst>
          </p:cNvPr>
          <p:cNvSpPr>
            <a:spLocks xmlns:a="http://schemas.openxmlformats.org/drawingml/2006/main" noGrp="1"/>
          </p:cNvSpPr>
          <p:nvPr/>
        </p:nvSpPr>
        <p:spPr>
          <a:xfrm xmlns:a="http://schemas.openxmlformats.org/drawingml/2006/main">
            <a:off x="1428750" y="4410075"/>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Present uncertainty, review tables and consistent exports.</a:t>
            </a:r>
          </a:p>
        </p:txBody>
      </p:sp>
    </p:spTree>
    <p:extLst>
      <p:ext uri="{BB962C8B-B14F-4D97-AF65-F5344CB8AC3E}">
        <p14:creationId xmlns:p14="http://schemas.microsoft.com/office/powerpoint/2010/main" val="20408098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019937-4DC1-463F-BFF4-1435CB3515E8}"/>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One model workflow serves two interfaces</a:t>
            </a:r>
          </a:p>
        </p:txBody>
      </p:sp>
      <p:sp>
        <p:nvSpPr>
          <p:cNvPr id="2" name="">
            <a:extLst xmlns:a="http://schemas.openxmlformats.org/drawingml/2006/main">
              <a:ext uri="{FF2B5EF4-FFF2-40B4-BE49-F238E27FC236}">
                <a16:creationId xmlns:a16="http://schemas.microsoft.com/office/drawing/2014/main" id="{D3A0191F-8F4F-4EC9-957B-5CD34BD3B519}"/>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Chapter 2  Design</a:t>
            </a:r>
          </a:p>
        </p:txBody>
      </p:sp>
      <p:sp>
        <p:nvSpPr>
          <p:cNvPr id="3" name="">
            <a:extLst xmlns:a="http://schemas.openxmlformats.org/drawingml/2006/main">
              <a:ext uri="{FF2B5EF4-FFF2-40B4-BE49-F238E27FC236}">
                <a16:creationId xmlns:a16="http://schemas.microsoft.com/office/drawing/2014/main" id="{2DE668F7-7665-4A46-98E2-78D9ED9FA79C}"/>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4</a:t>
            </a:r>
          </a:p>
        </p:txBody>
      </p:sp>
      <p:pic>
        <p:nvPicPr>
          <p:cNvPr id="4" name="">
            <a:extLst xmlns:a="http://schemas.openxmlformats.org/drawingml/2006/main">
              <a:ext uri="{FF2B5EF4-FFF2-40B4-BE49-F238E27FC236}">
                <a16:creationId xmlns:a16="http://schemas.microsoft.com/office/drawing/2014/main" id="{EC513832-97F7-493A-B03E-53A712216F4A}"/>
              </a:ext>
            </a:extLst>
          </p:cNvPr>
          <p:cNvPicPr>
            <a:picLocks xmlns:a="http://schemas.openxmlformats.org/drawingml/2006/main" noChangeAspect="1"/>
          </p:cNvPicPr>
          <p:nvPr/>
        </p:nvPicPr>
        <p:blipFill>
          <a:blip xmlns:r="http://schemas.openxmlformats.org/officeDocument/2006/relationships" xmlns:a="http://schemas.openxmlformats.org/drawingml/2006/main" r:embed="Rf586a9a2cb434d8c"/>
          <a:stretch xmlns:a="http://schemas.openxmlformats.org/drawingml/2006/main"/>
        </p:blipFill>
        <p:spPr>
          <a:xfrm xmlns:a="http://schemas.openxmlformats.org/drawingml/2006/main">
            <a:off x="1489881" y="1657350"/>
            <a:ext cx="9212239" cy="4114800"/>
          </a:xfrm>
          <a:prstGeom xmlns:a="http://schemas.openxmlformats.org/drawingml/2006/main" prst="rect">
            <a:avLst/>
          </a:prstGeom>
        </p:spPr>
      </p:pic>
    </p:spTree>
    <p:extLst>
      <p:ext uri="{BB962C8B-B14F-4D97-AF65-F5344CB8AC3E}">
        <p14:creationId xmlns:p14="http://schemas.microsoft.com/office/powerpoint/2010/main" val="16623434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6054C5-9A01-4E45-AB99-21D8D791EC64}"/>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Selection precedes calibration and testing</a:t>
            </a:r>
          </a:p>
        </p:txBody>
      </p:sp>
      <p:sp>
        <p:nvSpPr>
          <p:cNvPr id="2" name="">
            <a:extLst xmlns:a="http://schemas.openxmlformats.org/drawingml/2006/main">
              <a:ext uri="{FF2B5EF4-FFF2-40B4-BE49-F238E27FC236}">
                <a16:creationId xmlns:a16="http://schemas.microsoft.com/office/drawing/2014/main" id="{7BEF2C11-B3E2-4644-97D0-15E3617AE119}"/>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Chapter 2  Design</a:t>
            </a:r>
          </a:p>
        </p:txBody>
      </p:sp>
      <p:sp>
        <p:nvSpPr>
          <p:cNvPr id="3" name="">
            <a:extLst xmlns:a="http://schemas.openxmlformats.org/drawingml/2006/main">
              <a:ext uri="{FF2B5EF4-FFF2-40B4-BE49-F238E27FC236}">
                <a16:creationId xmlns:a16="http://schemas.microsoft.com/office/drawing/2014/main" id="{7E428FA5-5B44-4388-9D4B-FBA039E1348F}"/>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CCA62741-3992-4014-941D-3A862B3B7F6B}"/>
              </a:ext>
            </a:extLst>
          </p:cNvPr>
          <p:cNvGraphicFramePr/>
          <p:nvPr/>
        </p:nvGraphicFramePr>
        <p:xfrm>
          <a:off xmlns:a="http://schemas.openxmlformats.org/drawingml/2006/main" x="609600" y="1762125"/>
          <a:ext xmlns:a="http://schemas.openxmlformats.org/drawingml/2006/main" cx="10972800" cy="2095500"/>
        </p:xfrm>
        <a:graphic xmlns:a="http://schemas.openxmlformats.org/drawingml/2006/main">
          <a:graphicData uri="http://schemas.openxmlformats.org/drawingml/2006/table">
            <a:tbl>
              <a:tblPr/>
              <a:tblGrid>
                <a:gridCol w="4114800"/>
                <a:gridCol w="2286000"/>
                <a:gridCol w="2286000"/>
                <a:gridCol w="2286000"/>
              </a:tblGrid>
              <a:tr h="698500">
                <a:tc>
                  <a:txBody>
                    <a:bodyPr/>
                    <a:lstStyle/>
                    <a:p>
                      <a:r>
                        <a:rPr sz="1725" b="1">
                          <a:solidFill>
                            <a:srgbClr val="FFFFFF"/>
                          </a:solidFill>
                          <a:latin typeface="Arial"/>
                          <a:ea typeface="Arial"/>
                          <a:cs typeface="Arial"/>
                        </a:rPr>
                        <a:t>Subject</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c>
                  <a:txBody>
                    <a:bodyPr/>
                    <a:lstStyle/>
                    <a:p>
                      <a:r>
                        <a:rPr sz="1725" b="1">
                          <a:solidFill>
                            <a:srgbClr val="FFFFFF"/>
                          </a:solidFill>
                          <a:latin typeface="Arial"/>
                          <a:ea typeface="Arial"/>
                          <a:cs typeface="Arial"/>
                        </a:rPr>
                        <a:t>Fitting</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c>
                  <a:txBody>
                    <a:bodyPr/>
                    <a:lstStyle/>
                    <a:p>
                      <a:r>
                        <a:rPr sz="1725" b="1">
                          <a:solidFill>
                            <a:srgbClr val="FFFFFF"/>
                          </a:solidFill>
                          <a:latin typeface="Arial"/>
                          <a:ea typeface="Arial"/>
                          <a:cs typeface="Arial"/>
                        </a:rPr>
                        <a:t>Calibration</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c>
                  <a:txBody>
                    <a:bodyPr/>
                    <a:lstStyle/>
                    <a:p>
                      <a:r>
                        <a:rPr sz="1725" b="1">
                          <a:solidFill>
                            <a:srgbClr val="FFFFFF"/>
                          </a:solidFill>
                          <a:latin typeface="Arial"/>
                          <a:ea typeface="Arial"/>
                          <a:cs typeface="Arial"/>
                        </a:rPr>
                        <a:t>Test</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r>
              <a:tr h="698500">
                <a:tc>
                  <a:txBody>
                    <a:bodyPr/>
                    <a:lstStyle/>
                    <a:p>
                      <a:r>
                        <a:rPr sz="1725" b="0">
                          <a:solidFill>
                            <a:srgbClr val="183844"/>
                          </a:solidFill>
                          <a:latin typeface="Arial"/>
                          <a:ea typeface="Arial"/>
                          <a:cs typeface="Arial"/>
                        </a:rPr>
                        <a:t>Mathematics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237</a:t>
                      </a:r>
                    </a:p>
                  </a:txBody>
                  <a:tcPr marL="91440" marR="91440" marT="45720" marB="45720">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79</a:t>
                      </a:r>
                    </a:p>
                  </a:txBody>
                  <a:tcPr marL="91440" marR="91440" marT="45720" marB="45720">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79</a:t>
                      </a:r>
                    </a:p>
                  </a:txBody>
                  <a:tcPr marL="91440" marR="91440" marT="45720" marB="45720">
                    <a:lnR w="9525">
                      <a:solidFill>
                        <a:srgbClr val="D9D9D9"/>
                      </a:solidFill>
                      <a:prstDash val="solid"/>
                    </a:lnR>
                    <a:lnB w="9525">
                      <a:solidFill>
                        <a:srgbClr val="D9D9D9"/>
                      </a:solidFill>
                      <a:prstDash val="solid"/>
                    </a:lnB>
                    <a:solidFill>
                      <a:srgbClr val="F1F5F6"/>
                    </a:solidFill>
                  </a:tcPr>
                </a:tc>
              </a:tr>
              <a:tr h="698500">
                <a:tc>
                  <a:txBody>
                    <a:bodyPr/>
                    <a:lstStyle/>
                    <a:p>
                      <a:r>
                        <a:rPr sz="1725" b="0">
                          <a:solidFill>
                            <a:srgbClr val="183844"/>
                          </a:solidFill>
                          <a:latin typeface="Arial"/>
                          <a:ea typeface="Arial"/>
                          <a:cs typeface="Arial"/>
                        </a:rPr>
                        <a:t>Portuguese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389</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130</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130</a:t>
                      </a:r>
                    </a:p>
                  </a:txBody>
                  <a:tcPr marL="91440" marR="91440" marT="45720" marB="45720">
                    <a:lnR w="9525">
                      <a:solidFill>
                        <a:srgbClr val="D9D9D9"/>
                      </a:solidFill>
                      <a:prstDash val="solid"/>
                    </a:lnR>
                    <a:lnB w="9525">
                      <a:solidFill>
                        <a:srgbClr val="D9D9D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B08DE96-F5DA-45F3-B086-982607FEBC5B}"/>
              </a:ext>
            </a:extLst>
          </p:cNvPr>
          <p:cNvSpPr>
            <a:spLocks xmlns:a="http://schemas.openxmlformats.org/drawingml/2006/main" noGrp="1"/>
          </p:cNvSpPr>
          <p:nvPr/>
        </p:nvSpPr>
        <p:spPr>
          <a:xfrm xmlns:a="http://schemas.openxmlformats.org/drawingml/2006/main">
            <a:off x="609600" y="423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Six candidates: mean, G2 persistence, two ridge and two forest models.</a:t>
            </a:r>
          </a:p>
        </p:txBody>
      </p:sp>
      <p:sp>
        <p:nvSpPr>
          <p:cNvPr id="6" name="">
            <a:extLst xmlns:a="http://schemas.openxmlformats.org/drawingml/2006/main">
              <a:ext uri="{FF2B5EF4-FFF2-40B4-BE49-F238E27FC236}">
                <a16:creationId xmlns:a16="http://schemas.microsoft.com/office/drawing/2014/main" id="{FE4A9CB6-C6E8-4784-94F2-3F5D27AF3A0F}"/>
              </a:ext>
            </a:extLst>
          </p:cNvPr>
          <p:cNvSpPr>
            <a:spLocks xmlns:a="http://schemas.openxmlformats.org/drawingml/2006/main" noGrp="1"/>
          </p:cNvSpPr>
          <p:nvPr/>
        </p:nvSpPr>
        <p:spPr>
          <a:xfrm xmlns:a="http://schemas.openxmlformats.org/drawingml/2006/main">
            <a:off x="609600" y="52578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87F8C"/>
                </a:solidFill>
                <a:latin typeface="Arial"/>
                <a:ea typeface="Arial"/>
                <a:cs typeface="Arial"/>
              </a:defRPr>
            </a:defPPr>
            <a:lvl1pPr>
              <a:defRPr sz="2100" b="1">
                <a:solidFill>
                  <a:srgbClr val="087F8C"/>
                </a:solidFill>
                <a:latin typeface="Arial"/>
                <a:ea typeface="Arial"/>
                <a:cs typeface="Arial"/>
              </a:defRPr>
            </a:lvl1pPr>
            <a:lvl2pPr>
              <a:defRPr sz="2100" b="1">
                <a:solidFill>
                  <a:srgbClr val="087F8C"/>
                </a:solidFill>
                <a:latin typeface="Arial"/>
                <a:ea typeface="Arial"/>
                <a:cs typeface="Arial"/>
              </a:defRPr>
            </a:lvl2pPr>
            <a:lvl3pPr>
              <a:defRPr sz="2100" b="1">
                <a:solidFill>
                  <a:srgbClr val="087F8C"/>
                </a:solidFill>
                <a:latin typeface="Arial"/>
                <a:ea typeface="Arial"/>
                <a:cs typeface="Arial"/>
              </a:defRPr>
            </a:lvl3pPr>
            <a:lvl4pPr>
              <a:defRPr sz="2100" b="1">
                <a:solidFill>
                  <a:srgbClr val="087F8C"/>
                </a:solidFill>
                <a:latin typeface="Arial"/>
                <a:ea typeface="Arial"/>
                <a:cs typeface="Arial"/>
              </a:defRPr>
            </a:lvl4pPr>
            <a:lvl5pPr>
              <a:defRPr sz="2100" b="1">
                <a:solidFill>
                  <a:srgbClr val="087F8C"/>
                </a:solidFill>
                <a:latin typeface="Arial"/>
                <a:ea typeface="Arial"/>
                <a:cs typeface="Arial"/>
              </a:defRPr>
            </a:lvl5pPr>
            <a:lvl6pPr>
              <a:defRPr sz="2100" b="1">
                <a:solidFill>
                  <a:srgbClr val="087F8C"/>
                </a:solidFill>
                <a:latin typeface="Arial"/>
                <a:ea typeface="Arial"/>
                <a:cs typeface="Arial"/>
              </a:defRPr>
            </a:lvl6pPr>
            <a:lvl7pPr>
              <a:defRPr sz="2100" b="1">
                <a:solidFill>
                  <a:srgbClr val="087F8C"/>
                </a:solidFill>
                <a:latin typeface="Arial"/>
                <a:ea typeface="Arial"/>
                <a:cs typeface="Arial"/>
              </a:defRPr>
            </a:lvl7pPr>
            <a:lvl8pPr>
              <a:defRPr sz="2100" b="1">
                <a:solidFill>
                  <a:srgbClr val="087F8C"/>
                </a:solidFill>
                <a:latin typeface="Arial"/>
                <a:ea typeface="Arial"/>
                <a:cs typeface="Arial"/>
              </a:defRPr>
            </a:lvl8pPr>
            <a:lvl9pPr>
              <a:defRPr sz="2100" b="1">
                <a:solidFill>
                  <a:srgbClr val="087F8C"/>
                </a:solidFill>
                <a:latin typeface="Arial"/>
                <a:ea typeface="Arial"/>
                <a:cs typeface="Arial"/>
              </a:defRPr>
            </a:lvl9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G3 and student metadata never enter the predictors.</a:t>
            </a:r>
          </a:p>
        </p:txBody>
      </p:sp>
    </p:spTree>
    <p:extLst>
      <p:ext uri="{BB962C8B-B14F-4D97-AF65-F5344CB8AC3E}">
        <p14:creationId xmlns:p14="http://schemas.microsoft.com/office/powerpoint/2010/main" val="13726322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980F7C-646E-4971-8D5B-1EE4E33E10A3}"/>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G2 wins the validation comparison</a:t>
            </a:r>
          </a:p>
        </p:txBody>
      </p:sp>
      <p:sp>
        <p:nvSpPr>
          <p:cNvPr id="2" name="">
            <a:extLst xmlns:a="http://schemas.openxmlformats.org/drawingml/2006/main">
              <a:ext uri="{FF2B5EF4-FFF2-40B4-BE49-F238E27FC236}">
                <a16:creationId xmlns:a16="http://schemas.microsoft.com/office/drawing/2014/main" id="{937A55AD-3B75-41D3-8C95-779741D4D84E}"/>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Chapter 3  Prototype</a:t>
            </a:r>
          </a:p>
        </p:txBody>
      </p:sp>
      <p:sp>
        <p:nvSpPr>
          <p:cNvPr id="3" name="">
            <a:extLst xmlns:a="http://schemas.openxmlformats.org/drawingml/2006/main">
              <a:ext uri="{FF2B5EF4-FFF2-40B4-BE49-F238E27FC236}">
                <a16:creationId xmlns:a16="http://schemas.microsoft.com/office/drawing/2014/main" id="{8AF66937-AF11-4644-A0B1-022B4B5A61C9}"/>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6</a:t>
            </a:r>
          </a:p>
        </p:txBody>
      </p:sp>
      <p:graphicFrame>
        <p:nvGraphicFramePr>
          <p:cNvPr id="4" name="Chart">
            <a:extLst xmlns:a="http://schemas.openxmlformats.org/drawingml/2006/main">
              <a:ext uri="{FF2B5EF4-FFF2-40B4-BE49-F238E27FC236}">
                <a16:creationId xmlns:a16="http://schemas.microsoft.com/office/drawing/2014/main" id="{1DE53B1F-79E2-4209-B152-D85761E9137D}"/>
              </a:ext>
            </a:extLst>
          </p:cNvPr>
          <p:cNvGraphicFramePr/>
          <p:nvPr/>
        </p:nvGraphicFramePr>
        <p:xfrm>
          <a:off xmlns:a="http://schemas.openxmlformats.org/drawingml/2006/main" x="609600" y="1695450"/>
          <a:ext xmlns:a="http://schemas.openxmlformats.org/drawingml/2006/main" cx="10972800" cy="3905250"/>
        </p:xfrm>
        <a:graphic xmlns:a="http://schemas.openxmlformats.org/drawingml/2006/main">
          <a:graphicData uri="http://schemas.openxmlformats.org/drawingml/2006/chart">
            <c:chart xmlns:r="http://schemas.openxmlformats.org/officeDocument/2006/relationships" xmlns:c="http://schemas.openxmlformats.org/drawingml/2006/chart" r:id="R952a018613fe40f0"/>
          </a:graphicData>
        </a:graphic>
      </p:graphicFrame>
      <p:sp>
        <p:nvSpPr>
          <p:cNvPr id="5" name="">
            <a:extLst xmlns:a="http://schemas.openxmlformats.org/drawingml/2006/main">
              <a:ext uri="{FF2B5EF4-FFF2-40B4-BE49-F238E27FC236}">
                <a16:creationId xmlns:a16="http://schemas.microsoft.com/office/drawing/2014/main" id="{B5820D20-E88C-4F07-8795-FC1F46DA8673}"/>
              </a:ext>
            </a:extLst>
          </p:cNvPr>
          <p:cNvSpPr>
            <a:spLocks xmlns:a="http://schemas.openxmlformats.org/drawingml/2006/main" noGrp="1"/>
          </p:cNvSpPr>
          <p:nvPr/>
        </p:nvSpPr>
        <p:spPr>
          <a:xfrm xmlns:a="http://schemas.openxmlformats.org/drawingml/2006/main">
            <a:off x="609600" y="5715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6666E"/>
                </a:solidFill>
                <a:latin typeface="Arial"/>
                <a:ea typeface="Arial"/>
                <a:cs typeface="Arial"/>
              </a:defRPr>
            </a:defPPr>
            <a:lvl1pPr>
              <a:defRPr sz="1650" b="0">
                <a:solidFill>
                  <a:srgbClr val="56666E"/>
                </a:solidFill>
                <a:latin typeface="Arial"/>
                <a:ea typeface="Arial"/>
                <a:cs typeface="Arial"/>
              </a:defRPr>
            </a:lvl1pPr>
            <a:lvl2pPr>
              <a:defRPr sz="1650" b="0">
                <a:solidFill>
                  <a:srgbClr val="56666E"/>
                </a:solidFill>
                <a:latin typeface="Arial"/>
                <a:ea typeface="Arial"/>
                <a:cs typeface="Arial"/>
              </a:defRPr>
            </a:lvl2pPr>
            <a:lvl3pPr>
              <a:defRPr sz="1650" b="0">
                <a:solidFill>
                  <a:srgbClr val="56666E"/>
                </a:solidFill>
                <a:latin typeface="Arial"/>
                <a:ea typeface="Arial"/>
                <a:cs typeface="Arial"/>
              </a:defRPr>
            </a:lvl3pPr>
            <a:lvl4pPr>
              <a:defRPr sz="1650" b="0">
                <a:solidFill>
                  <a:srgbClr val="56666E"/>
                </a:solidFill>
                <a:latin typeface="Arial"/>
                <a:ea typeface="Arial"/>
                <a:cs typeface="Arial"/>
              </a:defRPr>
            </a:lvl4pPr>
            <a:lvl5pPr>
              <a:defRPr sz="1650" b="0">
                <a:solidFill>
                  <a:srgbClr val="56666E"/>
                </a:solidFill>
                <a:latin typeface="Arial"/>
                <a:ea typeface="Arial"/>
                <a:cs typeface="Arial"/>
              </a:defRPr>
            </a:lvl5pPr>
            <a:lvl6pPr>
              <a:defRPr sz="1650" b="0">
                <a:solidFill>
                  <a:srgbClr val="56666E"/>
                </a:solidFill>
                <a:latin typeface="Arial"/>
                <a:ea typeface="Arial"/>
                <a:cs typeface="Arial"/>
              </a:defRPr>
            </a:lvl6pPr>
            <a:lvl7pPr>
              <a:defRPr sz="1650" b="0">
                <a:solidFill>
                  <a:srgbClr val="56666E"/>
                </a:solidFill>
                <a:latin typeface="Arial"/>
                <a:ea typeface="Arial"/>
                <a:cs typeface="Arial"/>
              </a:defRPr>
            </a:lvl7pPr>
            <a:lvl8pPr>
              <a:defRPr sz="1650" b="0">
                <a:solidFill>
                  <a:srgbClr val="56666E"/>
                </a:solidFill>
                <a:latin typeface="Arial"/>
                <a:ea typeface="Arial"/>
                <a:cs typeface="Arial"/>
              </a:defRPr>
            </a:lvl8pPr>
            <a:lvl9pPr>
              <a:defRPr sz="1650" b="0">
                <a:solidFill>
                  <a:srgbClr val="56666E"/>
                </a:solidFill>
                <a:latin typeface="Arial"/>
                <a:ea typeface="Arial"/>
                <a:cs typeface="Arial"/>
              </a:defRPr>
            </a:lvl9pPr>
          </a:lstStyle>
          <a:p xmlns:a="http://schemas.openxmlformats.org/drawingml/2006/main">
            <a:pPr>
              <a:defRPr sz="1650" b="0">
                <a:solidFill>
                  <a:srgbClr val="56666E"/>
                </a:solidFill>
                <a:latin typeface="Arial"/>
                <a:ea typeface="Arial"/>
                <a:cs typeface="Arial"/>
              </a:defRPr>
            </a:pPr>
            <a:r>
              <a:rPr sz="1650" b="0">
                <a:solidFill>
                  <a:srgbClr val="56666E"/>
                </a:solidFill>
                <a:latin typeface="Arial"/>
                <a:ea typeface="Arial"/>
                <a:cs typeface="Arial"/>
              </a:rPr>
              <a:t>Lower MAE is better. Every candidate uses the same fitting-data folds.</a:t>
            </a:r>
          </a:p>
        </p:txBody>
      </p:sp>
    </p:spTree>
    <p:extLst>
      <p:ext uri="{BB962C8B-B14F-4D97-AF65-F5344CB8AC3E}">
        <p14:creationId xmlns:p14="http://schemas.microsoft.com/office/powerpoint/2010/main" val="7851653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74DFE6-5157-47EF-A8F6-934BA5DF1B31}"/>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Lower MAE comes with a mixed result</a:t>
            </a:r>
          </a:p>
        </p:txBody>
      </p:sp>
      <p:sp>
        <p:nvSpPr>
          <p:cNvPr id="2" name="">
            <a:extLst xmlns:a="http://schemas.openxmlformats.org/drawingml/2006/main">
              <a:ext uri="{FF2B5EF4-FFF2-40B4-BE49-F238E27FC236}">
                <a16:creationId xmlns:a16="http://schemas.microsoft.com/office/drawing/2014/main" id="{0741C2D5-A806-45EC-B97B-7047F9559942}"/>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Chapter 3  Prototype</a:t>
            </a:r>
          </a:p>
        </p:txBody>
      </p:sp>
      <p:sp>
        <p:nvSpPr>
          <p:cNvPr id="3" name="">
            <a:extLst xmlns:a="http://schemas.openxmlformats.org/drawingml/2006/main">
              <a:ext uri="{FF2B5EF4-FFF2-40B4-BE49-F238E27FC236}">
                <a16:creationId xmlns:a16="http://schemas.microsoft.com/office/drawing/2014/main" id="{BEC4E17F-4988-4635-8012-F098B8B6B5DF}"/>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7</a:t>
            </a:r>
          </a:p>
        </p:txBody>
      </p:sp>
      <p:graphicFrame>
        <p:nvGraphicFramePr>
          <p:cNvPr id="4" name="">
            <a:extLst xmlns:a="http://schemas.openxmlformats.org/drawingml/2006/main">
              <a:ext uri="{FF2B5EF4-FFF2-40B4-BE49-F238E27FC236}">
                <a16:creationId xmlns:a16="http://schemas.microsoft.com/office/drawing/2014/main" id="{16F5688F-D29B-48A0-856B-398EBDEB277D}"/>
              </a:ext>
            </a:extLst>
          </p:cNvPr>
          <p:cNvGraphicFramePr/>
          <p:nvPr/>
        </p:nvGraphicFramePr>
        <p:xfrm>
          <a:off xmlns:a="http://schemas.openxmlformats.org/drawingml/2006/main" x="609600" y="1762125"/>
          <a:ext xmlns:a="http://schemas.openxmlformats.org/drawingml/2006/main" cx="10972800" cy="2857500"/>
        </p:xfrm>
        <a:graphic xmlns:a="http://schemas.openxmlformats.org/drawingml/2006/main">
          <a:graphicData uri="http://schemas.openxmlformats.org/drawingml/2006/table">
            <a:tbl>
              <a:tblPr/>
              <a:tblGrid>
                <a:gridCol w="2286000"/>
                <a:gridCol w="4343400"/>
                <a:gridCol w="4343400"/>
              </a:tblGrid>
              <a:tr h="714375">
                <a:tc>
                  <a:txBody>
                    <a:bodyPr/>
                    <a:lstStyle/>
                    <a:p>
                      <a:r>
                        <a:rPr sz="1725" b="1">
                          <a:solidFill>
                            <a:srgbClr val="FFFFFF"/>
                          </a:solidFill>
                          <a:latin typeface="Arial"/>
                          <a:ea typeface="Arial"/>
                          <a:cs typeface="Arial"/>
                        </a:rPr>
                        <a:t>Measure</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c>
                  <a:txBody>
                    <a:bodyPr/>
                    <a:lstStyle/>
                    <a:p>
                      <a:r>
                        <a:rPr sz="1725" b="1">
                          <a:solidFill>
                            <a:srgbClr val="FFFFFF"/>
                          </a:solidFill>
                          <a:latin typeface="Arial"/>
                          <a:ea typeface="Arial"/>
                          <a:cs typeface="Arial"/>
                        </a:rPr>
                        <a:t>Mathematics before / after</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c>
                  <a:txBody>
                    <a:bodyPr/>
                    <a:lstStyle/>
                    <a:p>
                      <a:r>
                        <a:rPr sz="1725" b="1">
                          <a:solidFill>
                            <a:srgbClr val="FFFFFF"/>
                          </a:solidFill>
                          <a:latin typeface="Arial"/>
                          <a:ea typeface="Arial"/>
                          <a:cs typeface="Arial"/>
                        </a:rPr>
                        <a:t>Portuguese before / after</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r>
              <a:tr h="714375">
                <a:tc>
                  <a:txBody>
                    <a:bodyPr/>
                    <a:lstStyle/>
                    <a:p>
                      <a:r>
                        <a:rPr sz="1725" b="0">
                          <a:solidFill>
                            <a:srgbClr val="183844"/>
                          </a:solidFill>
                          <a:latin typeface="Arial"/>
                          <a:ea typeface="Arial"/>
                          <a:cs typeface="Arial"/>
                        </a:rPr>
                        <a:t>MAE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1.415 / 1.000</a:t>
                      </a:r>
                    </a:p>
                  </a:txBody>
                  <a:tcPr marL="91440" marR="91440" marT="45720" marB="45720">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0.755 / 0.677</a:t>
                      </a:r>
                    </a:p>
                  </a:txBody>
                  <a:tcPr marL="91440" marR="91440" marT="45720" marB="45720">
                    <a:lnR w="9525">
                      <a:solidFill>
                        <a:srgbClr val="D9D9D9"/>
                      </a:solidFill>
                      <a:prstDash val="solid"/>
                    </a:lnR>
                    <a:lnB w="9525">
                      <a:solidFill>
                        <a:srgbClr val="D9D9D9"/>
                      </a:solidFill>
                      <a:prstDash val="solid"/>
                    </a:lnB>
                    <a:solidFill>
                      <a:srgbClr val="F1F5F6"/>
                    </a:solidFill>
                  </a:tcPr>
                </a:tc>
              </a:tr>
              <a:tr h="714375">
                <a:tc>
                  <a:txBody>
                    <a:bodyPr/>
                    <a:lstStyle/>
                    <a:p>
                      <a:r>
                        <a:rPr sz="1725" b="0">
                          <a:solidFill>
                            <a:srgbClr val="183844"/>
                          </a:solidFill>
                          <a:latin typeface="Arial"/>
                          <a:ea typeface="Arial"/>
                          <a:cs typeface="Arial"/>
                        </a:rPr>
                        <a:t>RMSE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2.195 / 2.072</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1.159 / 1.170</a:t>
                      </a:r>
                    </a:p>
                  </a:txBody>
                  <a:tcPr marL="91440" marR="91440" marT="45720" marB="45720">
                    <a:lnR w="9525">
                      <a:solidFill>
                        <a:srgbClr val="D9D9D9"/>
                      </a:solidFill>
                      <a:prstDash val="solid"/>
                    </a:lnR>
                    <a:lnB w="9525">
                      <a:solidFill>
                        <a:srgbClr val="D9D9D9"/>
                      </a:solidFill>
                      <a:prstDash val="solid"/>
                    </a:lnB>
                    <a:solidFill>
                      <a:srgbClr val="FFFFFF"/>
                    </a:solidFill>
                  </a:tcPr>
                </a:tc>
              </a:tr>
              <a:tr h="714375">
                <a:tc>
                  <a:txBody>
                    <a:bodyPr/>
                    <a:lstStyle/>
                    <a:p>
                      <a:r>
                        <a:rPr sz="1725" b="0">
                          <a:solidFill>
                            <a:srgbClr val="183844"/>
                          </a:solidFill>
                          <a:latin typeface="Arial"/>
                          <a:ea typeface="Arial"/>
                          <a:cs typeface="Arial"/>
                        </a:rPr>
                        <a:t>R2</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0.765 / 0.791</a:t>
                      </a:r>
                    </a:p>
                  </a:txBody>
                  <a:tcPr marL="91440" marR="91440" marT="45720" marB="45720">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0.862 / 0.860</a:t>
                      </a:r>
                    </a:p>
                  </a:txBody>
                  <a:tcPr marL="91440" marR="91440" marT="45720" marB="45720">
                    <a:lnR w="9525">
                      <a:solidFill>
                        <a:srgbClr val="D9D9D9"/>
                      </a:solidFill>
                      <a:prstDash val="solid"/>
                    </a:lnR>
                    <a:lnB w="9525">
                      <a:solidFill>
                        <a:srgbClr val="D9D9D9"/>
                      </a:solidFill>
                      <a:prstDash val="solid"/>
                    </a:lnB>
                    <a:solidFill>
                      <a:srgbClr val="F1F5F6"/>
                    </a:solidFill>
                  </a:tcPr>
                </a:tc>
              </a:tr>
            </a:tbl>
          </a:graphicData>
        </a:graphic>
      </p:graphicFrame>
      <p:sp>
        <p:nvSpPr>
          <p:cNvPr id="5" name="">
            <a:extLst xmlns:a="http://schemas.openxmlformats.org/drawingml/2006/main">
              <a:ext uri="{FF2B5EF4-FFF2-40B4-BE49-F238E27FC236}">
                <a16:creationId xmlns:a16="http://schemas.microsoft.com/office/drawing/2014/main" id="{B4FFD224-2102-434F-A759-CA8408A13728}"/>
              </a:ext>
            </a:extLst>
          </p:cNvPr>
          <p:cNvSpPr>
            <a:spLocks xmlns:a="http://schemas.openxmlformats.org/drawingml/2006/main" noGrp="1"/>
          </p:cNvSpPr>
          <p:nvPr/>
        </p:nvSpPr>
        <p:spPr>
          <a:xfrm xmlns:a="http://schemas.openxmlformats.org/drawingml/2006/main">
            <a:off x="609600" y="5000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The test records have already informed development.</a:t>
            </a:r>
          </a:p>
        </p:txBody>
      </p:sp>
      <p:sp>
        <p:nvSpPr>
          <p:cNvPr id="6" name="">
            <a:extLst xmlns:a="http://schemas.openxmlformats.org/drawingml/2006/main">
              <a:ext uri="{FF2B5EF4-FFF2-40B4-BE49-F238E27FC236}">
                <a16:creationId xmlns:a16="http://schemas.microsoft.com/office/drawing/2014/main" id="{AC07009D-7B2E-449A-88B1-C7E7A5920372}"/>
              </a:ext>
            </a:extLst>
          </p:cNvPr>
          <p:cNvSpPr>
            <a:spLocks xmlns:a="http://schemas.openxmlformats.org/drawingml/2006/main" noGrp="1"/>
          </p:cNvSpPr>
          <p:nvPr/>
        </p:nvSpPr>
        <p:spPr>
          <a:xfrm xmlns:a="http://schemas.openxmlformats.org/drawingml/2006/main">
            <a:off x="609600" y="5619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6666E"/>
                </a:solidFill>
                <a:latin typeface="Arial"/>
                <a:ea typeface="Arial"/>
                <a:cs typeface="Arial"/>
              </a:defRPr>
            </a:defPPr>
            <a:lvl1pPr>
              <a:defRPr sz="1800" b="0">
                <a:solidFill>
                  <a:srgbClr val="56666E"/>
                </a:solidFill>
                <a:latin typeface="Arial"/>
                <a:ea typeface="Arial"/>
                <a:cs typeface="Arial"/>
              </a:defRPr>
            </a:lvl1pPr>
            <a:lvl2pPr>
              <a:defRPr sz="1800" b="0">
                <a:solidFill>
                  <a:srgbClr val="56666E"/>
                </a:solidFill>
                <a:latin typeface="Arial"/>
                <a:ea typeface="Arial"/>
                <a:cs typeface="Arial"/>
              </a:defRPr>
            </a:lvl2pPr>
            <a:lvl3pPr>
              <a:defRPr sz="1800" b="0">
                <a:solidFill>
                  <a:srgbClr val="56666E"/>
                </a:solidFill>
                <a:latin typeface="Arial"/>
                <a:ea typeface="Arial"/>
                <a:cs typeface="Arial"/>
              </a:defRPr>
            </a:lvl3pPr>
            <a:lvl4pPr>
              <a:defRPr sz="1800" b="0">
                <a:solidFill>
                  <a:srgbClr val="56666E"/>
                </a:solidFill>
                <a:latin typeface="Arial"/>
                <a:ea typeface="Arial"/>
                <a:cs typeface="Arial"/>
              </a:defRPr>
            </a:lvl4pPr>
            <a:lvl5pPr>
              <a:defRPr sz="1800" b="0">
                <a:solidFill>
                  <a:srgbClr val="56666E"/>
                </a:solidFill>
                <a:latin typeface="Arial"/>
                <a:ea typeface="Arial"/>
                <a:cs typeface="Arial"/>
              </a:defRPr>
            </a:lvl5pPr>
            <a:lvl6pPr>
              <a:defRPr sz="1800" b="0">
                <a:solidFill>
                  <a:srgbClr val="56666E"/>
                </a:solidFill>
                <a:latin typeface="Arial"/>
                <a:ea typeface="Arial"/>
                <a:cs typeface="Arial"/>
              </a:defRPr>
            </a:lvl6pPr>
            <a:lvl7pPr>
              <a:defRPr sz="1800" b="0">
                <a:solidFill>
                  <a:srgbClr val="56666E"/>
                </a:solidFill>
                <a:latin typeface="Arial"/>
                <a:ea typeface="Arial"/>
                <a:cs typeface="Arial"/>
              </a:defRPr>
            </a:lvl7pPr>
            <a:lvl8pPr>
              <a:defRPr sz="1800" b="0">
                <a:solidFill>
                  <a:srgbClr val="56666E"/>
                </a:solidFill>
                <a:latin typeface="Arial"/>
                <a:ea typeface="Arial"/>
                <a:cs typeface="Arial"/>
              </a:defRPr>
            </a:lvl8pPr>
            <a:lvl9pPr>
              <a:defRPr sz="1800" b="0">
                <a:solidFill>
                  <a:srgbClr val="56666E"/>
                </a:solidFill>
                <a:latin typeface="Arial"/>
                <a:ea typeface="Arial"/>
                <a:cs typeface="Arial"/>
              </a:defRPr>
            </a:lvl9pPr>
          </a:lstStyle>
          <a:p xmlns:a="http://schemas.openxmlformats.org/drawingml/2006/main">
            <a:pPr>
              <a:defRPr sz="1800" b="0">
                <a:solidFill>
                  <a:srgbClr val="56666E"/>
                </a:solidFill>
                <a:latin typeface="Arial"/>
                <a:ea typeface="Arial"/>
                <a:cs typeface="Arial"/>
              </a:defRPr>
            </a:pPr>
            <a:r>
              <a:rPr sz="1800" b="0">
                <a:solidFill>
                  <a:srgbClr val="56666E"/>
                </a:solidFill>
                <a:latin typeface="Arial"/>
                <a:ea typeface="Arial"/>
                <a:cs typeface="Arial"/>
              </a:rPr>
              <a:t>A new institution or later cohort still needs independent evaluation.</a:t>
            </a:r>
          </a:p>
        </p:txBody>
      </p:sp>
    </p:spTree>
    <p:extLst>
      <p:ext uri="{BB962C8B-B14F-4D97-AF65-F5344CB8AC3E}">
        <p14:creationId xmlns:p14="http://schemas.microsoft.com/office/powerpoint/2010/main" val="20065589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68A3D51-91A8-4607-A14D-E9FB7F2A63D9}"/>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Intervals and alerts describe different things</a:t>
            </a:r>
          </a:p>
        </p:txBody>
      </p:sp>
      <p:sp>
        <p:nvSpPr>
          <p:cNvPr id="2" name="">
            <a:extLst xmlns:a="http://schemas.openxmlformats.org/drawingml/2006/main">
              <a:ext uri="{FF2B5EF4-FFF2-40B4-BE49-F238E27FC236}">
                <a16:creationId xmlns:a16="http://schemas.microsoft.com/office/drawing/2014/main" id="{E87A40C8-C9BE-4D68-B0D9-80805ED2036B}"/>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Chapter 3  Prototype</a:t>
            </a:r>
          </a:p>
        </p:txBody>
      </p:sp>
      <p:sp>
        <p:nvSpPr>
          <p:cNvPr id="3" name="">
            <a:extLst xmlns:a="http://schemas.openxmlformats.org/drawingml/2006/main">
              <a:ext uri="{FF2B5EF4-FFF2-40B4-BE49-F238E27FC236}">
                <a16:creationId xmlns:a16="http://schemas.microsoft.com/office/drawing/2014/main" id="{A4217D79-F7BC-47DF-86A4-AB61CDCCA473}"/>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8</a:t>
            </a:r>
          </a:p>
        </p:txBody>
      </p:sp>
      <p:graphicFrame>
        <p:nvGraphicFramePr>
          <p:cNvPr id="4" name="">
            <a:extLst xmlns:a="http://schemas.openxmlformats.org/drawingml/2006/main">
              <a:ext uri="{FF2B5EF4-FFF2-40B4-BE49-F238E27FC236}">
                <a16:creationId xmlns:a16="http://schemas.microsoft.com/office/drawing/2014/main" id="{51DF12D1-6C48-4E5E-8AE4-65C33D05B2F9}"/>
              </a:ext>
            </a:extLst>
          </p:cNvPr>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a:tblGrid>
                <a:gridCol w="4286250"/>
                <a:gridCol w="3343275"/>
                <a:gridCol w="3343275"/>
              </a:tblGrid>
              <a:tr h="619125">
                <a:tc>
                  <a:txBody>
                    <a:bodyPr/>
                    <a:lstStyle/>
                    <a:p>
                      <a:r>
                        <a:rPr sz="1725" b="1">
                          <a:solidFill>
                            <a:srgbClr val="FFFFFF"/>
                          </a:solidFill>
                          <a:latin typeface="Arial"/>
                          <a:ea typeface="Arial"/>
                          <a:cs typeface="Arial"/>
                        </a:rPr>
                        <a:t>Measure</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c>
                  <a:txBody>
                    <a:bodyPr/>
                    <a:lstStyle/>
                    <a:p>
                      <a:r>
                        <a:rPr sz="1725" b="1">
                          <a:solidFill>
                            <a:srgbClr val="FFFFFF"/>
                          </a:solidFill>
                          <a:latin typeface="Arial"/>
                          <a:ea typeface="Arial"/>
                          <a:cs typeface="Arial"/>
                        </a:rPr>
                        <a:t>Mathematics</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c>
                  <a:txBody>
                    <a:bodyPr/>
                    <a:lstStyle/>
                    <a:p>
                      <a:r>
                        <a:rPr sz="1725" b="1">
                          <a:solidFill>
                            <a:srgbClr val="FFFFFF"/>
                          </a:solidFill>
                          <a:latin typeface="Arial"/>
                          <a:ea typeface="Arial"/>
                          <a:cs typeface="Arial"/>
                        </a:rPr>
                        <a:t>Portuguese</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183844"/>
                    </a:solidFill>
                  </a:tcPr>
                </a:tc>
              </a:tr>
              <a:tr h="619125">
                <a:tc>
                  <a:txBody>
                    <a:bodyPr/>
                    <a:lstStyle/>
                    <a:p>
                      <a:r>
                        <a:rPr sz="1725" b="0">
                          <a:solidFill>
                            <a:srgbClr val="183844"/>
                          </a:solidFill>
                          <a:latin typeface="Arial"/>
                          <a:ea typeface="Arial"/>
                          <a:cs typeface="Arial"/>
                        </a:rPr>
                        <a:t>Nominal coverage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80%</a:t>
                      </a:r>
                    </a:p>
                  </a:txBody>
                  <a:tcPr marL="91440" marR="91440" marT="45720" marB="45720">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80%</a:t>
                      </a:r>
                    </a:p>
                  </a:txBody>
                  <a:tcPr marL="91440" marR="91440" marT="45720" marB="45720">
                    <a:lnR w="9525">
                      <a:solidFill>
                        <a:srgbClr val="D9D9D9"/>
                      </a:solidFill>
                      <a:prstDash val="solid"/>
                    </a:lnR>
                    <a:lnB w="9525">
                      <a:solidFill>
                        <a:srgbClr val="D9D9D9"/>
                      </a:solidFill>
                      <a:prstDash val="solid"/>
                    </a:lnB>
                    <a:solidFill>
                      <a:srgbClr val="F1F5F6"/>
                    </a:solidFill>
                  </a:tcPr>
                </a:tc>
              </a:tr>
              <a:tr h="619125">
                <a:tc>
                  <a:txBody>
                    <a:bodyPr/>
                    <a:lstStyle/>
                    <a:p>
                      <a:r>
                        <a:rPr sz="1725" b="0">
                          <a:solidFill>
                            <a:srgbClr val="183844"/>
                          </a:solidFill>
                          <a:latin typeface="Arial"/>
                          <a:ea typeface="Arial"/>
                          <a:cs typeface="Arial"/>
                        </a:rPr>
                        <a:t>Observed test coverage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83.5% (66/79)</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93.8% (122/130)</a:t>
                      </a:r>
                    </a:p>
                  </a:txBody>
                  <a:tcPr marL="91440" marR="91440" marT="45720" marB="45720">
                    <a:lnR w="9525">
                      <a:solidFill>
                        <a:srgbClr val="D9D9D9"/>
                      </a:solidFill>
                      <a:prstDash val="solid"/>
                    </a:lnR>
                    <a:lnB w="9525">
                      <a:solidFill>
                        <a:srgbClr val="D9D9D9"/>
                      </a:solidFill>
                      <a:prstDash val="solid"/>
                    </a:lnB>
                    <a:solidFill>
                      <a:srgbClr val="FFFFFF"/>
                    </a:solidFill>
                  </a:tcPr>
                </a:tc>
              </a:tr>
              <a:tr h="619125">
                <a:tc>
                  <a:txBody>
                    <a:bodyPr/>
                    <a:lstStyle/>
                    <a:p>
                      <a:r>
                        <a:rPr sz="1725" b="0">
                          <a:solidFill>
                            <a:srgbClr val="183844"/>
                          </a:solidFill>
                          <a:latin typeface="Arial"/>
                          <a:ea typeface="Arial"/>
                          <a:cs typeface="Arial"/>
                        </a:rPr>
                        <a:t>Interval width</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2 grade points</a:t>
                      </a:r>
                    </a:p>
                  </a:txBody>
                  <a:tcPr marL="91440" marR="91440" marT="45720" marB="45720">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2 grade points</a:t>
                      </a:r>
                    </a:p>
                  </a:txBody>
                  <a:tcPr marL="91440" marR="91440" marT="45720" marB="45720">
                    <a:lnR w="9525">
                      <a:solidFill>
                        <a:srgbClr val="D9D9D9"/>
                      </a:solidFill>
                      <a:prstDash val="solid"/>
                    </a:lnR>
                    <a:lnB w="9525">
                      <a:solidFill>
                        <a:srgbClr val="D9D9D9"/>
                      </a:solidFill>
                      <a:prstDash val="solid"/>
                    </a:lnB>
                    <a:solidFill>
                      <a:srgbClr val="F1F5F6"/>
                    </a:solidFill>
                  </a:tcPr>
                </a:tc>
              </a:tr>
              <a:tr h="619125">
                <a:tc>
                  <a:txBody>
                    <a:bodyPr/>
                    <a:lstStyle/>
                    <a:p>
                      <a:r>
                        <a:rPr sz="1725" b="0">
                          <a:solidFill>
                            <a:srgbClr val="183844"/>
                          </a:solidFill>
                          <a:latin typeface="Arial"/>
                          <a:ea typeface="Arial"/>
                          <a:cs typeface="Arial"/>
                        </a:rPr>
                        <a:t>Alert precision at 10</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0.813</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3844"/>
                          </a:solidFill>
                          <a:latin typeface="Arial"/>
                          <a:ea typeface="Arial"/>
                          <a:cs typeface="Arial"/>
                        </a:rPr>
                        <a:t>0.560</a:t>
                      </a:r>
                    </a:p>
                  </a:txBody>
                  <a:tcPr marL="91440" marR="91440" marT="45720" marB="45720">
                    <a:lnR w="9525">
                      <a:solidFill>
                        <a:srgbClr val="D9D9D9"/>
                      </a:solidFill>
                      <a:prstDash val="solid"/>
                    </a:lnR>
                    <a:lnB w="9525">
                      <a:solidFill>
                        <a:srgbClr val="D9D9D9"/>
                      </a:solidFill>
                      <a:prstDash val="solid"/>
                    </a:lnB>
                    <a:solidFill>
                      <a:srgbClr val="FFFFFF"/>
                    </a:solidFill>
                  </a:tcPr>
                </a:tc>
              </a:tr>
              <a:tr h="619125">
                <a:tc>
                  <a:txBody>
                    <a:bodyPr/>
                    <a:lstStyle/>
                    <a:p>
                      <a:r>
                        <a:rPr sz="1725" b="0">
                          <a:solidFill>
                            <a:srgbClr val="183844"/>
                          </a:solidFill>
                          <a:latin typeface="Arial"/>
                          <a:ea typeface="Arial"/>
                          <a:cs typeface="Arial"/>
                        </a:rPr>
                        <a:t>Alert recall at 10</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0.963</a:t>
                      </a:r>
                    </a:p>
                  </a:txBody>
                  <a:tcPr marL="91440" marR="91440" marT="45720" marB="45720">
                    <a:lnR w="9525">
                      <a:solidFill>
                        <a:srgbClr val="D9D9D9"/>
                      </a:solidFill>
                      <a:prstDash val="solid"/>
                    </a:lnR>
                    <a:lnB w="9525">
                      <a:solidFill>
                        <a:srgbClr val="D9D9D9"/>
                      </a:solidFill>
                      <a:prstDash val="solid"/>
                    </a:lnB>
                    <a:solidFill>
                      <a:srgbClr val="F1F5F6"/>
                    </a:solidFill>
                  </a:tcPr>
                </a:tc>
                <a:tc>
                  <a:txBody>
                    <a:bodyPr/>
                    <a:lstStyle/>
                    <a:p>
                      <a:r>
                        <a:rPr sz="1725" b="0">
                          <a:solidFill>
                            <a:srgbClr val="183844"/>
                          </a:solidFill>
                          <a:latin typeface="Arial"/>
                          <a:ea typeface="Arial"/>
                          <a:cs typeface="Arial"/>
                        </a:rPr>
                        <a:t>0.933</a:t>
                      </a:r>
                    </a:p>
                  </a:txBody>
                  <a:tcPr marL="91440" marR="91440" marT="45720" marB="45720">
                    <a:lnR w="9525">
                      <a:solidFill>
                        <a:srgbClr val="D9D9D9"/>
                      </a:solidFill>
                      <a:prstDash val="solid"/>
                    </a:lnR>
                    <a:lnB w="9525">
                      <a:solidFill>
                        <a:srgbClr val="D9D9D9"/>
                      </a:solidFill>
                      <a:prstDash val="solid"/>
                    </a:lnB>
                    <a:solidFill>
                      <a:srgbClr val="F1F5F6"/>
                    </a:solidFill>
                  </a:tcPr>
                </a:tc>
              </a:tr>
            </a:tbl>
          </a:graphicData>
        </a:graphic>
      </p:graphicFrame>
      <p:sp>
        <p:nvSpPr>
          <p:cNvPr id="5" name="">
            <a:extLst xmlns:a="http://schemas.openxmlformats.org/drawingml/2006/main">
              <a:ext uri="{FF2B5EF4-FFF2-40B4-BE49-F238E27FC236}">
                <a16:creationId xmlns:a16="http://schemas.microsoft.com/office/drawing/2014/main" id="{5C648B59-1E84-452B-AC26-56BC06A049EE}"/>
              </a:ext>
            </a:extLst>
          </p:cNvPr>
          <p:cNvSpPr>
            <a:spLocks xmlns:a="http://schemas.openxmlformats.org/drawingml/2006/main" noGrp="1"/>
          </p:cNvSpPr>
          <p:nvPr/>
        </p:nvSpPr>
        <p:spPr>
          <a:xfrm xmlns:a="http://schemas.openxmlformats.org/drawingml/2006/main">
            <a:off x="609600" y="5657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6666E"/>
                </a:solidFill>
                <a:latin typeface="Arial"/>
                <a:ea typeface="Arial"/>
                <a:cs typeface="Arial"/>
              </a:defRPr>
            </a:defPPr>
            <a:lvl1pPr>
              <a:defRPr sz="1800" b="0">
                <a:solidFill>
                  <a:srgbClr val="56666E"/>
                </a:solidFill>
                <a:latin typeface="Arial"/>
                <a:ea typeface="Arial"/>
                <a:cs typeface="Arial"/>
              </a:defRPr>
            </a:lvl1pPr>
            <a:lvl2pPr>
              <a:defRPr sz="1800" b="0">
                <a:solidFill>
                  <a:srgbClr val="56666E"/>
                </a:solidFill>
                <a:latin typeface="Arial"/>
                <a:ea typeface="Arial"/>
                <a:cs typeface="Arial"/>
              </a:defRPr>
            </a:lvl2pPr>
            <a:lvl3pPr>
              <a:defRPr sz="1800" b="0">
                <a:solidFill>
                  <a:srgbClr val="56666E"/>
                </a:solidFill>
                <a:latin typeface="Arial"/>
                <a:ea typeface="Arial"/>
                <a:cs typeface="Arial"/>
              </a:defRPr>
            </a:lvl3pPr>
            <a:lvl4pPr>
              <a:defRPr sz="1800" b="0">
                <a:solidFill>
                  <a:srgbClr val="56666E"/>
                </a:solidFill>
                <a:latin typeface="Arial"/>
                <a:ea typeface="Arial"/>
                <a:cs typeface="Arial"/>
              </a:defRPr>
            </a:lvl4pPr>
            <a:lvl5pPr>
              <a:defRPr sz="1800" b="0">
                <a:solidFill>
                  <a:srgbClr val="56666E"/>
                </a:solidFill>
                <a:latin typeface="Arial"/>
                <a:ea typeface="Arial"/>
                <a:cs typeface="Arial"/>
              </a:defRPr>
            </a:lvl5pPr>
            <a:lvl6pPr>
              <a:defRPr sz="1800" b="0">
                <a:solidFill>
                  <a:srgbClr val="56666E"/>
                </a:solidFill>
                <a:latin typeface="Arial"/>
                <a:ea typeface="Arial"/>
                <a:cs typeface="Arial"/>
              </a:defRPr>
            </a:lvl6pPr>
            <a:lvl7pPr>
              <a:defRPr sz="1800" b="0">
                <a:solidFill>
                  <a:srgbClr val="56666E"/>
                </a:solidFill>
                <a:latin typeface="Arial"/>
                <a:ea typeface="Arial"/>
                <a:cs typeface="Arial"/>
              </a:defRPr>
            </a:lvl7pPr>
            <a:lvl8pPr>
              <a:defRPr sz="1800" b="0">
                <a:solidFill>
                  <a:srgbClr val="56666E"/>
                </a:solidFill>
                <a:latin typeface="Arial"/>
                <a:ea typeface="Arial"/>
                <a:cs typeface="Arial"/>
              </a:defRPr>
            </a:lvl8pPr>
            <a:lvl9pPr>
              <a:defRPr sz="1800" b="0">
                <a:solidFill>
                  <a:srgbClr val="56666E"/>
                </a:solidFill>
                <a:latin typeface="Arial"/>
                <a:ea typeface="Arial"/>
                <a:cs typeface="Arial"/>
              </a:defRPr>
            </a:lvl9pPr>
          </a:lstStyle>
          <a:p xmlns:a="http://schemas.openxmlformats.org/drawingml/2006/main">
            <a:pPr>
              <a:defRPr sz="1800" b="0">
                <a:solidFill>
                  <a:srgbClr val="56666E"/>
                </a:solidFill>
                <a:latin typeface="Arial"/>
                <a:ea typeface="Arial"/>
                <a:cs typeface="Arial"/>
              </a:defRPr>
            </a:pPr>
            <a:r>
              <a:rPr sz="1800" b="0">
                <a:solidFill>
                  <a:srgbClr val="56666E"/>
                </a:solidFill>
                <a:latin typeface="Arial"/>
                <a:ea typeface="Arial"/>
                <a:cs typeface="Arial"/>
              </a:rPr>
              <a:t>Alerts compare the forecast with a staff-selected reference grade.</a:t>
            </a:r>
          </a:p>
        </p:txBody>
      </p:sp>
    </p:spTree>
    <p:extLst>
      <p:ext uri="{BB962C8B-B14F-4D97-AF65-F5344CB8AC3E}">
        <p14:creationId xmlns:p14="http://schemas.microsoft.com/office/powerpoint/2010/main" val="5260035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4B52903-D762-45E8-B8BD-E7D11CEEEDEB}"/>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The staff workflow is implemented</a:t>
            </a:r>
          </a:p>
        </p:txBody>
      </p:sp>
      <p:sp>
        <p:nvSpPr>
          <p:cNvPr id="2" name="">
            <a:extLst xmlns:a="http://schemas.openxmlformats.org/drawingml/2006/main">
              <a:ext uri="{FF2B5EF4-FFF2-40B4-BE49-F238E27FC236}">
                <a16:creationId xmlns:a16="http://schemas.microsoft.com/office/drawing/2014/main" id="{BBD9C560-37D6-4BFA-A533-808FBD420017}"/>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Chapter 4  Integration</a:t>
            </a:r>
          </a:p>
        </p:txBody>
      </p:sp>
      <p:sp>
        <p:nvSpPr>
          <p:cNvPr id="3" name="">
            <a:extLst xmlns:a="http://schemas.openxmlformats.org/drawingml/2006/main">
              <a:ext uri="{FF2B5EF4-FFF2-40B4-BE49-F238E27FC236}">
                <a16:creationId xmlns:a16="http://schemas.microsoft.com/office/drawing/2014/main" id="{4A1CEA01-201C-41BE-83A8-30A8DFC2A845}"/>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05D6EDC5-2311-4419-A1CF-B17FA99CD385}"/>
              </a:ext>
            </a:extLst>
          </p:cNvPr>
          <p:cNvSpPr>
            <a:spLocks xmlns:a="http://schemas.openxmlformats.org/drawingml/2006/main" noGrp="1"/>
          </p:cNvSpPr>
          <p:nvPr/>
        </p:nvSpPr>
        <p:spPr>
          <a:xfrm xmlns:a="http://schemas.openxmlformats.org/drawingml/2006/main">
            <a:off x="628650" y="1838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86B94FA-1AA8-4A34-AC17-C61B07219D57}"/>
              </a:ext>
            </a:extLst>
          </p:cNvPr>
          <p:cNvSpPr>
            <a:spLocks xmlns:a="http://schemas.openxmlformats.org/drawingml/2006/main" noGrp="1"/>
          </p:cNvSpPr>
          <p:nvPr/>
        </p:nvSpPr>
        <p:spPr>
          <a:xfrm xmlns:a="http://schemas.openxmlformats.org/drawingml/2006/main">
            <a:off x="1428750" y="180975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Sign in and select the subject.</a:t>
            </a:r>
          </a:p>
        </p:txBody>
      </p:sp>
      <p:sp>
        <p:nvSpPr>
          <p:cNvPr id="6" name="">
            <a:extLst xmlns:a="http://schemas.openxmlformats.org/drawingml/2006/main">
              <a:ext uri="{FF2B5EF4-FFF2-40B4-BE49-F238E27FC236}">
                <a16:creationId xmlns:a16="http://schemas.microsoft.com/office/drawing/2014/main" id="{AD2482A1-0921-4BB5-AB69-1DEC92C71844}"/>
              </a:ext>
            </a:extLst>
          </p:cNvPr>
          <p:cNvSpPr>
            <a:spLocks xmlns:a="http://schemas.openxmlformats.org/drawingml/2006/main" noGrp="1"/>
          </p:cNvSpPr>
          <p:nvPr/>
        </p:nvSpPr>
        <p:spPr>
          <a:xfrm xmlns:a="http://schemas.openxmlformats.org/drawingml/2006/main">
            <a:off x="628650" y="27051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E1CB1131-FFAD-4FB6-93A4-E0801F9A27BB}"/>
              </a:ext>
            </a:extLst>
          </p:cNvPr>
          <p:cNvSpPr>
            <a:spLocks xmlns:a="http://schemas.openxmlformats.org/drawingml/2006/main" noGrp="1"/>
          </p:cNvSpPr>
          <p:nvPr/>
        </p:nvSpPr>
        <p:spPr>
          <a:xfrm xmlns:a="http://schemas.openxmlformats.org/drawingml/2006/main">
            <a:off x="1428750" y="2676525"/>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Enter G2 or upload a validated class CSV.</a:t>
            </a:r>
          </a:p>
        </p:txBody>
      </p:sp>
      <p:sp>
        <p:nvSpPr>
          <p:cNvPr id="8" name="">
            <a:extLst xmlns:a="http://schemas.openxmlformats.org/drawingml/2006/main">
              <a:ext uri="{FF2B5EF4-FFF2-40B4-BE49-F238E27FC236}">
                <a16:creationId xmlns:a16="http://schemas.microsoft.com/office/drawing/2014/main" id="{8DCA15A9-F8CA-427E-A558-77150A671FA1}"/>
              </a:ext>
            </a:extLst>
          </p:cNvPr>
          <p:cNvSpPr>
            <a:spLocks xmlns:a="http://schemas.openxmlformats.org/drawingml/2006/main" noGrp="1"/>
          </p:cNvSpPr>
          <p:nvPr/>
        </p:nvSpPr>
        <p:spPr>
          <a:xfrm xmlns:a="http://schemas.openxmlformats.org/drawingml/2006/main">
            <a:off x="628650" y="35718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27D8D169-755C-4451-ABEA-D9D6289BC5D5}"/>
              </a:ext>
            </a:extLst>
          </p:cNvPr>
          <p:cNvSpPr>
            <a:spLocks xmlns:a="http://schemas.openxmlformats.org/drawingml/2006/main" noGrp="1"/>
          </p:cNvSpPr>
          <p:nvPr/>
        </p:nvSpPr>
        <p:spPr>
          <a:xfrm xmlns:a="http://schemas.openxmlformats.org/drawingml/2006/main">
            <a:off x="1428750" y="35433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Inspect grade charts, review categories and model quality.</a:t>
            </a:r>
          </a:p>
        </p:txBody>
      </p:sp>
      <p:sp>
        <p:nvSpPr>
          <p:cNvPr id="10" name="">
            <a:extLst xmlns:a="http://schemas.openxmlformats.org/drawingml/2006/main">
              <a:ext uri="{FF2B5EF4-FFF2-40B4-BE49-F238E27FC236}">
                <a16:creationId xmlns:a16="http://schemas.microsoft.com/office/drawing/2014/main" id="{75D9249C-187C-4B15-B68E-E61234F4F49B}"/>
              </a:ext>
            </a:extLst>
          </p:cNvPr>
          <p:cNvSpPr>
            <a:spLocks xmlns:a="http://schemas.openxmlformats.org/drawingml/2006/main" noGrp="1"/>
          </p:cNvSpPr>
          <p:nvPr/>
        </p:nvSpPr>
        <p:spPr>
          <a:xfrm xmlns:a="http://schemas.openxmlformats.org/drawingml/2006/main">
            <a:off x="628650" y="4438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38D42C20-5605-4840-B7FE-FA85039A3EFE}"/>
              </a:ext>
            </a:extLst>
          </p:cNvPr>
          <p:cNvSpPr>
            <a:spLocks xmlns:a="http://schemas.openxmlformats.org/drawingml/2006/main" noGrp="1"/>
          </p:cNvSpPr>
          <p:nvPr/>
        </p:nvSpPr>
        <p:spPr>
          <a:xfrm xmlns:a="http://schemas.openxmlformats.org/drawingml/2006/main">
            <a:off x="1428750" y="4410075"/>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Download results carrying the active bundle identity.</a:t>
            </a:r>
          </a:p>
        </p:txBody>
      </p:sp>
    </p:spTree>
    <p:extLst>
      <p:ext uri="{BB962C8B-B14F-4D97-AF65-F5344CB8AC3E}">
        <p14:creationId xmlns:p14="http://schemas.microsoft.com/office/powerpoint/2010/main" val="9890861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48C85C-C9CB-4DD1-A1E7-8461B328E448}"/>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Notebook and Drive reuse the project code</a:t>
            </a:r>
          </a:p>
        </p:txBody>
      </p:sp>
      <p:sp>
        <p:nvSpPr>
          <p:cNvPr id="2" name="">
            <a:extLst xmlns:a="http://schemas.openxmlformats.org/drawingml/2006/main">
              <a:ext uri="{FF2B5EF4-FFF2-40B4-BE49-F238E27FC236}">
                <a16:creationId xmlns:a16="http://schemas.microsoft.com/office/drawing/2014/main" id="{E40B9DFA-5FDB-43DA-91BE-49EF4588A4C9}"/>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Chapter 4  Integration</a:t>
            </a:r>
          </a:p>
        </p:txBody>
      </p:sp>
      <p:sp>
        <p:nvSpPr>
          <p:cNvPr id="3" name="">
            <a:extLst xmlns:a="http://schemas.openxmlformats.org/drawingml/2006/main">
              <a:ext uri="{FF2B5EF4-FFF2-40B4-BE49-F238E27FC236}">
                <a16:creationId xmlns:a16="http://schemas.microsoft.com/office/drawing/2014/main" id="{5AC4FD8D-8BE3-45B8-8D42-0057477DFD20}"/>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43CD71E1-E053-421A-9A8F-C00535C8C291}"/>
              </a:ext>
            </a:extLst>
          </p:cNvPr>
          <p:cNvSpPr>
            <a:spLocks xmlns:a="http://schemas.openxmlformats.org/drawingml/2006/main" noGrp="1"/>
          </p:cNvSpPr>
          <p:nvPr/>
        </p:nvSpPr>
        <p:spPr>
          <a:xfrm xmlns:a="http://schemas.openxmlformats.org/drawingml/2006/main">
            <a:off x="628650" y="1838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528F8D5-F227-4BCD-A6BF-E8C3818DAC8A}"/>
              </a:ext>
            </a:extLst>
          </p:cNvPr>
          <p:cNvSpPr>
            <a:spLocks xmlns:a="http://schemas.openxmlformats.org/drawingml/2006/main" noGrp="1"/>
          </p:cNvSpPr>
          <p:nvPr/>
        </p:nvSpPr>
        <p:spPr>
          <a:xfrm xmlns:a="http://schemas.openxmlformats.org/drawingml/2006/main">
            <a:off x="1428750" y="180975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Local Jupyter uses the StudentInsight environment.</a:t>
            </a:r>
          </a:p>
        </p:txBody>
      </p:sp>
      <p:sp>
        <p:nvSpPr>
          <p:cNvPr id="6" name="">
            <a:extLst xmlns:a="http://schemas.openxmlformats.org/drawingml/2006/main">
              <a:ext uri="{FF2B5EF4-FFF2-40B4-BE49-F238E27FC236}">
                <a16:creationId xmlns:a16="http://schemas.microsoft.com/office/drawing/2014/main" id="{C0EC8039-21F5-4E17-A911-86FF53FDA2CE}"/>
              </a:ext>
            </a:extLst>
          </p:cNvPr>
          <p:cNvSpPr>
            <a:spLocks xmlns:a="http://schemas.openxmlformats.org/drawingml/2006/main" noGrp="1"/>
          </p:cNvSpPr>
          <p:nvPr/>
        </p:nvSpPr>
        <p:spPr>
          <a:xfrm xmlns:a="http://schemas.openxmlformats.org/drawingml/2006/main">
            <a:off x="628650" y="27051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872EE8D8-2BB8-4861-AF5D-5B1EB7BF7C92}"/>
              </a:ext>
            </a:extLst>
          </p:cNvPr>
          <p:cNvSpPr>
            <a:spLocks xmlns:a="http://schemas.openxmlformats.org/drawingml/2006/main" noGrp="1"/>
          </p:cNvSpPr>
          <p:nvPr/>
        </p:nvSpPr>
        <p:spPr>
          <a:xfrm xmlns:a="http://schemas.openxmlformats.org/drawingml/2006/main">
            <a:off x="1428750" y="2676525"/>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Colab loads the project from GitHub.</a:t>
            </a:r>
          </a:p>
        </p:txBody>
      </p:sp>
      <p:sp>
        <p:nvSpPr>
          <p:cNvPr id="8" name="">
            <a:extLst xmlns:a="http://schemas.openxmlformats.org/drawingml/2006/main">
              <a:ext uri="{FF2B5EF4-FFF2-40B4-BE49-F238E27FC236}">
                <a16:creationId xmlns:a16="http://schemas.microsoft.com/office/drawing/2014/main" id="{CCE837A5-A947-4749-920E-EE9EB467C95C}"/>
              </a:ext>
            </a:extLst>
          </p:cNvPr>
          <p:cNvSpPr>
            <a:spLocks xmlns:a="http://schemas.openxmlformats.org/drawingml/2006/main" noGrp="1"/>
          </p:cNvSpPr>
          <p:nvPr/>
        </p:nvSpPr>
        <p:spPr>
          <a:xfrm xmlns:a="http://schemas.openxmlformats.org/drawingml/2006/main">
            <a:off x="628650" y="35718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64E26F6C-3418-4840-B64F-B5B9E19DC7AB}"/>
              </a:ext>
            </a:extLst>
          </p:cNvPr>
          <p:cNvSpPr>
            <a:spLocks xmlns:a="http://schemas.openxmlformats.org/drawingml/2006/main" noGrp="1"/>
          </p:cNvSpPr>
          <p:nvPr/>
        </p:nvSpPr>
        <p:spPr>
          <a:xfrm xmlns:a="http://schemas.openxmlformats.org/drawingml/2006/main">
            <a:off x="1428750" y="35433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Optional Drive input: StudentInsight/datasets.</a:t>
            </a:r>
          </a:p>
        </p:txBody>
      </p:sp>
      <p:sp>
        <p:nvSpPr>
          <p:cNvPr id="10" name="">
            <a:extLst xmlns:a="http://schemas.openxmlformats.org/drawingml/2006/main">
              <a:ext uri="{FF2B5EF4-FFF2-40B4-BE49-F238E27FC236}">
                <a16:creationId xmlns:a16="http://schemas.microsoft.com/office/drawing/2014/main" id="{2C3B04CE-E714-4658-AD80-B5C7825FB072}"/>
              </a:ext>
            </a:extLst>
          </p:cNvPr>
          <p:cNvSpPr>
            <a:spLocks xmlns:a="http://schemas.openxmlformats.org/drawingml/2006/main" noGrp="1"/>
          </p:cNvSpPr>
          <p:nvPr/>
        </p:nvSpPr>
        <p:spPr>
          <a:xfrm xmlns:a="http://schemas.openxmlformats.org/drawingml/2006/main">
            <a:off x="628650" y="4438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99B674E5-8F63-4006-9DF2-8E1AB8677D67}"/>
              </a:ext>
            </a:extLst>
          </p:cNvPr>
          <p:cNvSpPr>
            <a:spLocks xmlns:a="http://schemas.openxmlformats.org/drawingml/2006/main" noGrp="1"/>
          </p:cNvSpPr>
          <p:nvPr/>
        </p:nvSpPr>
        <p:spPr>
          <a:xfrm xmlns:a="http://schemas.openxmlformats.org/drawingml/2006/main">
            <a:off x="1428750" y="4410075"/>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Verified report ZIPs: StudentInsight/reports.</a:t>
            </a:r>
          </a:p>
        </p:txBody>
      </p:sp>
    </p:spTree>
    <p:extLst>
      <p:ext uri="{BB962C8B-B14F-4D97-AF65-F5344CB8AC3E}">
        <p14:creationId xmlns:p14="http://schemas.microsoft.com/office/powerpoint/2010/main" val="16086220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7F39B5-0DC4-4B4D-9166-32574C37F89B}"/>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56 tests pass across the implemented workflow</a:t>
            </a:r>
          </a:p>
        </p:txBody>
      </p:sp>
      <p:sp>
        <p:nvSpPr>
          <p:cNvPr id="2" name="">
            <a:extLst xmlns:a="http://schemas.openxmlformats.org/drawingml/2006/main">
              <a:ext uri="{FF2B5EF4-FFF2-40B4-BE49-F238E27FC236}">
                <a16:creationId xmlns:a16="http://schemas.microsoft.com/office/drawing/2014/main" id="{6AAE7806-83F0-446B-8346-D1E1E39FEF13}"/>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Chapter 4  Integration</a:t>
            </a:r>
          </a:p>
        </p:txBody>
      </p:sp>
      <p:sp>
        <p:nvSpPr>
          <p:cNvPr id="3" name="">
            <a:extLst xmlns:a="http://schemas.openxmlformats.org/drawingml/2006/main">
              <a:ext uri="{FF2B5EF4-FFF2-40B4-BE49-F238E27FC236}">
                <a16:creationId xmlns:a16="http://schemas.microsoft.com/office/drawing/2014/main" id="{CF5AC031-6407-41B4-9A81-27327E051539}"/>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842A6D87-B880-4EE6-BEC3-95366D240C94}"/>
              </a:ext>
            </a:extLst>
          </p:cNvPr>
          <p:cNvSpPr>
            <a:spLocks xmlns:a="http://schemas.openxmlformats.org/drawingml/2006/main" noGrp="1"/>
          </p:cNvSpPr>
          <p:nvPr/>
        </p:nvSpPr>
        <p:spPr>
          <a:xfrm xmlns:a="http://schemas.openxmlformats.org/drawingml/2006/main">
            <a:off x="609600" y="1752600"/>
            <a:ext cx="2571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625" b="1">
                <a:solidFill>
                  <a:srgbClr val="087F8C"/>
                </a:solidFill>
                <a:latin typeface="Arial"/>
                <a:ea typeface="Arial"/>
                <a:cs typeface="Arial"/>
              </a:defRPr>
            </a:defPPr>
            <a:lvl1pPr>
              <a:defRPr sz="8625" b="1">
                <a:solidFill>
                  <a:srgbClr val="087F8C"/>
                </a:solidFill>
                <a:latin typeface="Arial"/>
                <a:ea typeface="Arial"/>
                <a:cs typeface="Arial"/>
              </a:defRPr>
            </a:lvl1pPr>
            <a:lvl2pPr>
              <a:defRPr sz="8625" b="1">
                <a:solidFill>
                  <a:srgbClr val="087F8C"/>
                </a:solidFill>
                <a:latin typeface="Arial"/>
                <a:ea typeface="Arial"/>
                <a:cs typeface="Arial"/>
              </a:defRPr>
            </a:lvl2pPr>
            <a:lvl3pPr>
              <a:defRPr sz="8625" b="1">
                <a:solidFill>
                  <a:srgbClr val="087F8C"/>
                </a:solidFill>
                <a:latin typeface="Arial"/>
                <a:ea typeface="Arial"/>
                <a:cs typeface="Arial"/>
              </a:defRPr>
            </a:lvl3pPr>
            <a:lvl4pPr>
              <a:defRPr sz="8625" b="1">
                <a:solidFill>
                  <a:srgbClr val="087F8C"/>
                </a:solidFill>
                <a:latin typeface="Arial"/>
                <a:ea typeface="Arial"/>
                <a:cs typeface="Arial"/>
              </a:defRPr>
            </a:lvl4pPr>
            <a:lvl5pPr>
              <a:defRPr sz="8625" b="1">
                <a:solidFill>
                  <a:srgbClr val="087F8C"/>
                </a:solidFill>
                <a:latin typeface="Arial"/>
                <a:ea typeface="Arial"/>
                <a:cs typeface="Arial"/>
              </a:defRPr>
            </a:lvl5pPr>
            <a:lvl6pPr>
              <a:defRPr sz="8625" b="1">
                <a:solidFill>
                  <a:srgbClr val="087F8C"/>
                </a:solidFill>
                <a:latin typeface="Arial"/>
                <a:ea typeface="Arial"/>
                <a:cs typeface="Arial"/>
              </a:defRPr>
            </a:lvl6pPr>
            <a:lvl7pPr>
              <a:defRPr sz="8625" b="1">
                <a:solidFill>
                  <a:srgbClr val="087F8C"/>
                </a:solidFill>
                <a:latin typeface="Arial"/>
                <a:ea typeface="Arial"/>
                <a:cs typeface="Arial"/>
              </a:defRPr>
            </a:lvl7pPr>
            <a:lvl8pPr>
              <a:defRPr sz="8625" b="1">
                <a:solidFill>
                  <a:srgbClr val="087F8C"/>
                </a:solidFill>
                <a:latin typeface="Arial"/>
                <a:ea typeface="Arial"/>
                <a:cs typeface="Arial"/>
              </a:defRPr>
            </a:lvl8pPr>
            <a:lvl9pPr>
              <a:defRPr sz="8625" b="1">
                <a:solidFill>
                  <a:srgbClr val="087F8C"/>
                </a:solidFill>
                <a:latin typeface="Arial"/>
                <a:ea typeface="Arial"/>
                <a:cs typeface="Arial"/>
              </a:defRPr>
            </a:lvl9pPr>
          </a:lstStyle>
          <a:p xmlns:a="http://schemas.openxmlformats.org/drawingml/2006/main">
            <a:pPr>
              <a:defRPr sz="8625" b="1">
                <a:solidFill>
                  <a:srgbClr val="087F8C"/>
                </a:solidFill>
                <a:latin typeface="Arial"/>
                <a:ea typeface="Arial"/>
                <a:cs typeface="Arial"/>
              </a:defRPr>
            </a:pPr>
            <a:r>
              <a:rPr sz="8625" b="1">
                <a:solidFill>
                  <a:srgbClr val="087F8C"/>
                </a:solidFill>
                <a:latin typeface="Arial"/>
                <a:ea typeface="Arial"/>
                <a:cs typeface="Arial"/>
              </a:rPr>
              <a:t>56</a:t>
            </a:r>
          </a:p>
        </p:txBody>
      </p:sp>
      <p:sp>
        <p:nvSpPr>
          <p:cNvPr id="5" name="">
            <a:extLst xmlns:a="http://schemas.openxmlformats.org/drawingml/2006/main">
              <a:ext uri="{FF2B5EF4-FFF2-40B4-BE49-F238E27FC236}">
                <a16:creationId xmlns:a16="http://schemas.microsoft.com/office/drawing/2014/main" id="{4A015EBA-55BE-4467-998B-F792DE029A6C}"/>
              </a:ext>
            </a:extLst>
          </p:cNvPr>
          <p:cNvSpPr>
            <a:spLocks xmlns:a="http://schemas.openxmlformats.org/drawingml/2006/main" noGrp="1"/>
          </p:cNvSpPr>
          <p:nvPr/>
        </p:nvSpPr>
        <p:spPr>
          <a:xfrm xmlns:a="http://schemas.openxmlformats.org/drawingml/2006/main">
            <a:off x="3381375" y="2133600"/>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3844"/>
                </a:solidFill>
                <a:latin typeface="Arial"/>
                <a:ea typeface="Arial"/>
                <a:cs typeface="Arial"/>
              </a:defRPr>
            </a:defPPr>
            <a:lvl1pPr>
              <a:defRPr sz="3000" b="1">
                <a:solidFill>
                  <a:srgbClr val="183844"/>
                </a:solidFill>
                <a:latin typeface="Arial"/>
                <a:ea typeface="Arial"/>
                <a:cs typeface="Arial"/>
              </a:defRPr>
            </a:lvl1pPr>
            <a:lvl2pPr>
              <a:defRPr sz="3000" b="1">
                <a:solidFill>
                  <a:srgbClr val="183844"/>
                </a:solidFill>
                <a:latin typeface="Arial"/>
                <a:ea typeface="Arial"/>
                <a:cs typeface="Arial"/>
              </a:defRPr>
            </a:lvl2pPr>
            <a:lvl3pPr>
              <a:defRPr sz="3000" b="1">
                <a:solidFill>
                  <a:srgbClr val="183844"/>
                </a:solidFill>
                <a:latin typeface="Arial"/>
                <a:ea typeface="Arial"/>
                <a:cs typeface="Arial"/>
              </a:defRPr>
            </a:lvl3pPr>
            <a:lvl4pPr>
              <a:defRPr sz="3000" b="1">
                <a:solidFill>
                  <a:srgbClr val="183844"/>
                </a:solidFill>
                <a:latin typeface="Arial"/>
                <a:ea typeface="Arial"/>
                <a:cs typeface="Arial"/>
              </a:defRPr>
            </a:lvl4pPr>
            <a:lvl5pPr>
              <a:defRPr sz="3000" b="1">
                <a:solidFill>
                  <a:srgbClr val="183844"/>
                </a:solidFill>
                <a:latin typeface="Arial"/>
                <a:ea typeface="Arial"/>
                <a:cs typeface="Arial"/>
              </a:defRPr>
            </a:lvl5pPr>
            <a:lvl6pPr>
              <a:defRPr sz="3000" b="1">
                <a:solidFill>
                  <a:srgbClr val="183844"/>
                </a:solidFill>
                <a:latin typeface="Arial"/>
                <a:ea typeface="Arial"/>
                <a:cs typeface="Arial"/>
              </a:defRPr>
            </a:lvl6pPr>
            <a:lvl7pPr>
              <a:defRPr sz="3000" b="1">
                <a:solidFill>
                  <a:srgbClr val="183844"/>
                </a:solidFill>
                <a:latin typeface="Arial"/>
                <a:ea typeface="Arial"/>
                <a:cs typeface="Arial"/>
              </a:defRPr>
            </a:lvl7pPr>
            <a:lvl8pPr>
              <a:defRPr sz="3000" b="1">
                <a:solidFill>
                  <a:srgbClr val="183844"/>
                </a:solidFill>
                <a:latin typeface="Arial"/>
                <a:ea typeface="Arial"/>
                <a:cs typeface="Arial"/>
              </a:defRPr>
            </a:lvl8pPr>
            <a:lvl9pPr>
              <a:defRPr sz="3000" b="1">
                <a:solidFill>
                  <a:srgbClr val="183844"/>
                </a:solidFill>
                <a:latin typeface="Arial"/>
                <a:ea typeface="Arial"/>
                <a:cs typeface="Arial"/>
              </a:defRPr>
            </a:lvl9pPr>
          </a:lstStyle>
          <a:p xmlns:a="http://schemas.openxmlformats.org/drawingml/2006/main">
            <a:pPr>
              <a:defRPr sz="3000" b="1">
                <a:solidFill>
                  <a:srgbClr val="183844"/>
                </a:solidFill>
                <a:latin typeface="Arial"/>
                <a:ea typeface="Arial"/>
                <a:cs typeface="Arial"/>
              </a:defRPr>
            </a:pPr>
            <a:r>
              <a:rPr sz="3000" b="1">
                <a:solidFill>
                  <a:srgbClr val="183844"/>
                </a:solidFill>
                <a:latin typeface="Arial"/>
                <a:ea typeface="Arial"/>
                <a:cs typeface="Arial"/>
              </a:rPr>
              <a:t>Passing automated tests</a:t>
            </a:r>
          </a:p>
        </p:txBody>
      </p:sp>
      <p:sp>
        <p:nvSpPr>
          <p:cNvPr id="6" name="">
            <a:extLst xmlns:a="http://schemas.openxmlformats.org/drawingml/2006/main">
              <a:ext uri="{FF2B5EF4-FFF2-40B4-BE49-F238E27FC236}">
                <a16:creationId xmlns:a16="http://schemas.microsoft.com/office/drawing/2014/main" id="{C4DCF36C-A939-43F3-8DD9-F785B77DA308}"/>
              </a:ext>
            </a:extLst>
          </p:cNvPr>
          <p:cNvSpPr>
            <a:spLocks xmlns:a="http://schemas.openxmlformats.org/drawingml/2006/main" noGrp="1"/>
          </p:cNvSpPr>
          <p:nvPr/>
        </p:nvSpPr>
        <p:spPr>
          <a:xfrm xmlns:a="http://schemas.openxmlformats.org/drawingml/2006/main">
            <a:off x="609600" y="371475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83844"/>
                </a:solidFill>
                <a:latin typeface="Arial"/>
                <a:ea typeface="Arial"/>
                <a:cs typeface="Arial"/>
              </a:defRPr>
            </a:defPPr>
            <a:lvl1pPr>
              <a:defRPr sz="2400" b="0">
                <a:solidFill>
                  <a:srgbClr val="183844"/>
                </a:solidFill>
                <a:latin typeface="Arial"/>
                <a:ea typeface="Arial"/>
                <a:cs typeface="Arial"/>
              </a:defRPr>
            </a:lvl1pPr>
            <a:lvl2pPr>
              <a:defRPr sz="2400" b="0">
                <a:solidFill>
                  <a:srgbClr val="183844"/>
                </a:solidFill>
                <a:latin typeface="Arial"/>
                <a:ea typeface="Arial"/>
                <a:cs typeface="Arial"/>
              </a:defRPr>
            </a:lvl2pPr>
            <a:lvl3pPr>
              <a:defRPr sz="2400" b="0">
                <a:solidFill>
                  <a:srgbClr val="183844"/>
                </a:solidFill>
                <a:latin typeface="Arial"/>
                <a:ea typeface="Arial"/>
                <a:cs typeface="Arial"/>
              </a:defRPr>
            </a:lvl3pPr>
            <a:lvl4pPr>
              <a:defRPr sz="2400" b="0">
                <a:solidFill>
                  <a:srgbClr val="183844"/>
                </a:solidFill>
                <a:latin typeface="Arial"/>
                <a:ea typeface="Arial"/>
                <a:cs typeface="Arial"/>
              </a:defRPr>
            </a:lvl4pPr>
            <a:lvl5pPr>
              <a:defRPr sz="2400" b="0">
                <a:solidFill>
                  <a:srgbClr val="183844"/>
                </a:solidFill>
                <a:latin typeface="Arial"/>
                <a:ea typeface="Arial"/>
                <a:cs typeface="Arial"/>
              </a:defRPr>
            </a:lvl5pPr>
            <a:lvl6pPr>
              <a:defRPr sz="2400" b="0">
                <a:solidFill>
                  <a:srgbClr val="183844"/>
                </a:solidFill>
                <a:latin typeface="Arial"/>
                <a:ea typeface="Arial"/>
                <a:cs typeface="Arial"/>
              </a:defRPr>
            </a:lvl6pPr>
            <a:lvl7pPr>
              <a:defRPr sz="2400" b="0">
                <a:solidFill>
                  <a:srgbClr val="183844"/>
                </a:solidFill>
                <a:latin typeface="Arial"/>
                <a:ea typeface="Arial"/>
                <a:cs typeface="Arial"/>
              </a:defRPr>
            </a:lvl7pPr>
            <a:lvl8pPr>
              <a:defRPr sz="2400" b="0">
                <a:solidFill>
                  <a:srgbClr val="183844"/>
                </a:solidFill>
                <a:latin typeface="Arial"/>
                <a:ea typeface="Arial"/>
                <a:cs typeface="Arial"/>
              </a:defRPr>
            </a:lvl8pPr>
            <a:lvl9pPr>
              <a:defRPr sz="2400" b="0">
                <a:solidFill>
                  <a:srgbClr val="183844"/>
                </a:solidFill>
                <a:latin typeface="Arial"/>
                <a:ea typeface="Arial"/>
                <a:cs typeface="Arial"/>
              </a:defRPr>
            </a:lvl9pPr>
          </a:lstStyle>
          <a:p xmlns:a="http://schemas.openxmlformats.org/drawingml/2006/main">
            <a:pPr>
              <a:defRPr sz="2400" b="0">
                <a:solidFill>
                  <a:srgbClr val="183844"/>
                </a:solidFill>
                <a:latin typeface="Arial"/>
                <a:ea typeface="Arial"/>
                <a:cs typeface="Arial"/>
              </a:defRPr>
            </a:pPr>
            <a:r>
              <a:rPr sz="2400" b="0">
                <a:solidFill>
                  <a:srgbClr val="183844"/>
                </a:solidFill>
                <a:latin typeface="Arial"/>
                <a:ea typeface="Arial"/>
                <a:cs typeface="Arial"/>
              </a:rPr>
              <a:t>Selection, schemas, calibration, partitions, thresholds, exports, authentication and artifact consistency.</a:t>
            </a:r>
          </a:p>
        </p:txBody>
      </p:sp>
      <p:sp>
        <p:nvSpPr>
          <p:cNvPr id="7" name="">
            <a:extLst xmlns:a="http://schemas.openxmlformats.org/drawingml/2006/main">
              <a:ext uri="{FF2B5EF4-FFF2-40B4-BE49-F238E27FC236}">
                <a16:creationId xmlns:a16="http://schemas.microsoft.com/office/drawing/2014/main" id="{3C7FCF9B-E713-4564-9237-177DAE44FFB6}"/>
              </a:ext>
            </a:extLst>
          </p:cNvPr>
          <p:cNvSpPr>
            <a:spLocks xmlns:a="http://schemas.openxmlformats.org/drawingml/2006/main" noGrp="1"/>
          </p:cNvSpPr>
          <p:nvPr/>
        </p:nvSpPr>
        <p:spPr>
          <a:xfrm xmlns:a="http://schemas.openxmlformats.org/drawingml/2006/main">
            <a:off x="609600" y="5286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6666E"/>
                </a:solidFill>
                <a:latin typeface="Arial"/>
                <a:ea typeface="Arial"/>
                <a:cs typeface="Arial"/>
              </a:defRPr>
            </a:defPPr>
            <a:lvl1pPr>
              <a:defRPr sz="2025" b="0">
                <a:solidFill>
                  <a:srgbClr val="56666E"/>
                </a:solidFill>
                <a:latin typeface="Arial"/>
                <a:ea typeface="Arial"/>
                <a:cs typeface="Arial"/>
              </a:defRPr>
            </a:lvl1pPr>
            <a:lvl2pPr>
              <a:defRPr sz="2025" b="0">
                <a:solidFill>
                  <a:srgbClr val="56666E"/>
                </a:solidFill>
                <a:latin typeface="Arial"/>
                <a:ea typeface="Arial"/>
                <a:cs typeface="Arial"/>
              </a:defRPr>
            </a:lvl2pPr>
            <a:lvl3pPr>
              <a:defRPr sz="2025" b="0">
                <a:solidFill>
                  <a:srgbClr val="56666E"/>
                </a:solidFill>
                <a:latin typeface="Arial"/>
                <a:ea typeface="Arial"/>
                <a:cs typeface="Arial"/>
              </a:defRPr>
            </a:lvl3pPr>
            <a:lvl4pPr>
              <a:defRPr sz="2025" b="0">
                <a:solidFill>
                  <a:srgbClr val="56666E"/>
                </a:solidFill>
                <a:latin typeface="Arial"/>
                <a:ea typeface="Arial"/>
                <a:cs typeface="Arial"/>
              </a:defRPr>
            </a:lvl4pPr>
            <a:lvl5pPr>
              <a:defRPr sz="2025" b="0">
                <a:solidFill>
                  <a:srgbClr val="56666E"/>
                </a:solidFill>
                <a:latin typeface="Arial"/>
                <a:ea typeface="Arial"/>
                <a:cs typeface="Arial"/>
              </a:defRPr>
            </a:lvl5pPr>
            <a:lvl6pPr>
              <a:defRPr sz="2025" b="0">
                <a:solidFill>
                  <a:srgbClr val="56666E"/>
                </a:solidFill>
                <a:latin typeface="Arial"/>
                <a:ea typeface="Arial"/>
                <a:cs typeface="Arial"/>
              </a:defRPr>
            </a:lvl6pPr>
            <a:lvl7pPr>
              <a:defRPr sz="2025" b="0">
                <a:solidFill>
                  <a:srgbClr val="56666E"/>
                </a:solidFill>
                <a:latin typeface="Arial"/>
                <a:ea typeface="Arial"/>
                <a:cs typeface="Arial"/>
              </a:defRPr>
            </a:lvl7pPr>
            <a:lvl8pPr>
              <a:defRPr sz="2025" b="0">
                <a:solidFill>
                  <a:srgbClr val="56666E"/>
                </a:solidFill>
                <a:latin typeface="Arial"/>
                <a:ea typeface="Arial"/>
                <a:cs typeface="Arial"/>
              </a:defRPr>
            </a:lvl8pPr>
            <a:lvl9pPr>
              <a:defRPr sz="2025" b="0">
                <a:solidFill>
                  <a:srgbClr val="56666E"/>
                </a:solidFill>
                <a:latin typeface="Arial"/>
                <a:ea typeface="Arial"/>
                <a:cs typeface="Arial"/>
              </a:defRPr>
            </a:lvl9pPr>
          </a:lstStyle>
          <a:p xmlns:a="http://schemas.openxmlformats.org/drawingml/2006/main">
            <a:pPr>
              <a:defRPr sz="2025" b="0">
                <a:solidFill>
                  <a:srgbClr val="56666E"/>
                </a:solidFill>
                <a:latin typeface="Arial"/>
                <a:ea typeface="Arial"/>
                <a:cs typeface="Arial"/>
              </a:defRPr>
            </a:pPr>
            <a:r>
              <a:rPr sz="2025" b="0">
                <a:solidFill>
                  <a:srgbClr val="56666E"/>
                </a:solidFill>
                <a:latin typeface="Arial"/>
                <a:ea typeface="Arial"/>
                <a:cs typeface="Arial"/>
              </a:rPr>
              <a:t>Notebook execution and local report download checks also passed.</a:t>
            </a:r>
          </a:p>
        </p:txBody>
      </p:sp>
    </p:spTree>
    <p:extLst>
      <p:ext uri="{BB962C8B-B14F-4D97-AF65-F5344CB8AC3E}">
        <p14:creationId xmlns:p14="http://schemas.microsoft.com/office/powerpoint/2010/main" val="18525133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13F0EC-DEA3-43E4-AAE1-34F1816EDCAD}"/>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844"/>
                </a:solidFill>
                <a:latin typeface="Arial"/>
                <a:ea typeface="Arial"/>
                <a:cs typeface="Arial"/>
              </a:defRPr>
            </a:defPPr>
            <a:lvl1pPr>
              <a:defRPr sz="3150" b="1">
                <a:solidFill>
                  <a:srgbClr val="183844"/>
                </a:solidFill>
                <a:latin typeface="Arial"/>
                <a:ea typeface="Arial"/>
                <a:cs typeface="Arial"/>
              </a:defRPr>
            </a:lvl1pPr>
            <a:lvl2pPr>
              <a:defRPr sz="3150" b="1">
                <a:solidFill>
                  <a:srgbClr val="183844"/>
                </a:solidFill>
                <a:latin typeface="Arial"/>
                <a:ea typeface="Arial"/>
                <a:cs typeface="Arial"/>
              </a:defRPr>
            </a:lvl2pPr>
            <a:lvl3pPr>
              <a:defRPr sz="3150" b="1">
                <a:solidFill>
                  <a:srgbClr val="183844"/>
                </a:solidFill>
                <a:latin typeface="Arial"/>
                <a:ea typeface="Arial"/>
                <a:cs typeface="Arial"/>
              </a:defRPr>
            </a:lvl3pPr>
            <a:lvl4pPr>
              <a:defRPr sz="3150" b="1">
                <a:solidFill>
                  <a:srgbClr val="183844"/>
                </a:solidFill>
                <a:latin typeface="Arial"/>
                <a:ea typeface="Arial"/>
                <a:cs typeface="Arial"/>
              </a:defRPr>
            </a:lvl4pPr>
            <a:lvl5pPr>
              <a:defRPr sz="3150" b="1">
                <a:solidFill>
                  <a:srgbClr val="183844"/>
                </a:solidFill>
                <a:latin typeface="Arial"/>
                <a:ea typeface="Arial"/>
                <a:cs typeface="Arial"/>
              </a:defRPr>
            </a:lvl5pPr>
            <a:lvl6pPr>
              <a:defRPr sz="3150" b="1">
                <a:solidFill>
                  <a:srgbClr val="183844"/>
                </a:solidFill>
                <a:latin typeface="Arial"/>
                <a:ea typeface="Arial"/>
                <a:cs typeface="Arial"/>
              </a:defRPr>
            </a:lvl6pPr>
            <a:lvl7pPr>
              <a:defRPr sz="3150" b="1">
                <a:solidFill>
                  <a:srgbClr val="183844"/>
                </a:solidFill>
                <a:latin typeface="Arial"/>
                <a:ea typeface="Arial"/>
                <a:cs typeface="Arial"/>
              </a:defRPr>
            </a:lvl7pPr>
            <a:lvl8pPr>
              <a:defRPr sz="3150" b="1">
                <a:solidFill>
                  <a:srgbClr val="183844"/>
                </a:solidFill>
                <a:latin typeface="Arial"/>
                <a:ea typeface="Arial"/>
                <a:cs typeface="Arial"/>
              </a:defRPr>
            </a:lvl8pPr>
            <a:lvl9pPr>
              <a:defRPr sz="3150" b="1">
                <a:solidFill>
                  <a:srgbClr val="183844"/>
                </a:solidFill>
                <a:latin typeface="Arial"/>
                <a:ea typeface="Arial"/>
                <a:cs typeface="Arial"/>
              </a:defRPr>
            </a:lvl9pPr>
          </a:lstStyle>
          <a:p xmlns:a="http://schemas.openxmlformats.org/drawingml/2006/main">
            <a:pPr>
              <a:defRPr sz="3150" b="1">
                <a:solidFill>
                  <a:srgbClr val="183844"/>
                </a:solidFill>
                <a:latin typeface="Arial"/>
                <a:ea typeface="Arial"/>
                <a:cs typeface="Arial"/>
              </a:defRPr>
            </a:pPr>
            <a:r>
              <a:rPr sz="3150" b="1">
                <a:solidFill>
                  <a:srgbClr val="183844"/>
                </a:solidFill>
                <a:latin typeface="Arial"/>
                <a:ea typeface="Arial"/>
                <a:cs typeface="Arial"/>
              </a:rPr>
              <a:t>The submission is prepared for assessment</a:t>
            </a:r>
          </a:p>
        </p:txBody>
      </p:sp>
      <p:sp>
        <p:nvSpPr>
          <p:cNvPr id="2" name="">
            <a:extLst xmlns:a="http://schemas.openxmlformats.org/drawingml/2006/main">
              <a:ext uri="{FF2B5EF4-FFF2-40B4-BE49-F238E27FC236}">
                <a16:creationId xmlns:a16="http://schemas.microsoft.com/office/drawing/2014/main" id="{F6AC1E47-3234-4F07-89E4-4466BFFAA150}"/>
              </a:ext>
            </a:extLst>
          </p:cNvPr>
          <p:cNvSpPr>
            <a:spLocks xmlns:a="http://schemas.openxmlformats.org/drawingml/2006/main" noGrp="1"/>
          </p:cNvSpPr>
          <p:nvPr/>
        </p:nvSpPr>
        <p:spPr>
          <a:xfrm xmlns:a="http://schemas.openxmlformats.org/drawingml/2006/main">
            <a:off x="609600" y="622935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Chapter 5  Final</a:t>
            </a:r>
          </a:p>
        </p:txBody>
      </p:sp>
      <p:sp>
        <p:nvSpPr>
          <p:cNvPr id="3" name="">
            <a:extLst xmlns:a="http://schemas.openxmlformats.org/drawingml/2006/main">
              <a:ext uri="{FF2B5EF4-FFF2-40B4-BE49-F238E27FC236}">
                <a16:creationId xmlns:a16="http://schemas.microsoft.com/office/drawing/2014/main" id="{48668B84-5229-4AAF-87B2-B3801966AE2B}"/>
              </a:ext>
            </a:extLst>
          </p:cNvPr>
          <p:cNvSpPr>
            <a:spLocks xmlns:a="http://schemas.openxmlformats.org/drawingml/2006/main" noGrp="1"/>
          </p:cNvSpPr>
          <p:nvPr/>
        </p:nvSpPr>
        <p:spPr>
          <a:xfrm xmlns:a="http://schemas.openxmlformats.org/drawingml/2006/main">
            <a:off x="11049000" y="62293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6666E"/>
                </a:solidFill>
                <a:latin typeface="Arial"/>
                <a:ea typeface="Arial"/>
                <a:cs typeface="Arial"/>
              </a:defRPr>
            </a:defPPr>
            <a:lvl1pPr>
              <a:defRPr sz="1275" b="0">
                <a:solidFill>
                  <a:srgbClr val="56666E"/>
                </a:solidFill>
                <a:latin typeface="Arial"/>
                <a:ea typeface="Arial"/>
                <a:cs typeface="Arial"/>
              </a:defRPr>
            </a:lvl1pPr>
            <a:lvl2pPr>
              <a:defRPr sz="1275" b="0">
                <a:solidFill>
                  <a:srgbClr val="56666E"/>
                </a:solidFill>
                <a:latin typeface="Arial"/>
                <a:ea typeface="Arial"/>
                <a:cs typeface="Arial"/>
              </a:defRPr>
            </a:lvl2pPr>
            <a:lvl3pPr>
              <a:defRPr sz="1275" b="0">
                <a:solidFill>
                  <a:srgbClr val="56666E"/>
                </a:solidFill>
                <a:latin typeface="Arial"/>
                <a:ea typeface="Arial"/>
                <a:cs typeface="Arial"/>
              </a:defRPr>
            </a:lvl3pPr>
            <a:lvl4pPr>
              <a:defRPr sz="1275" b="0">
                <a:solidFill>
                  <a:srgbClr val="56666E"/>
                </a:solidFill>
                <a:latin typeface="Arial"/>
                <a:ea typeface="Arial"/>
                <a:cs typeface="Arial"/>
              </a:defRPr>
            </a:lvl4pPr>
            <a:lvl5pPr>
              <a:defRPr sz="1275" b="0">
                <a:solidFill>
                  <a:srgbClr val="56666E"/>
                </a:solidFill>
                <a:latin typeface="Arial"/>
                <a:ea typeface="Arial"/>
                <a:cs typeface="Arial"/>
              </a:defRPr>
            </a:lvl5pPr>
            <a:lvl6pPr>
              <a:defRPr sz="1275" b="0">
                <a:solidFill>
                  <a:srgbClr val="56666E"/>
                </a:solidFill>
                <a:latin typeface="Arial"/>
                <a:ea typeface="Arial"/>
                <a:cs typeface="Arial"/>
              </a:defRPr>
            </a:lvl6pPr>
            <a:lvl7pPr>
              <a:defRPr sz="1275" b="0">
                <a:solidFill>
                  <a:srgbClr val="56666E"/>
                </a:solidFill>
                <a:latin typeface="Arial"/>
                <a:ea typeface="Arial"/>
                <a:cs typeface="Arial"/>
              </a:defRPr>
            </a:lvl7pPr>
            <a:lvl8pPr>
              <a:defRPr sz="1275" b="0">
                <a:solidFill>
                  <a:srgbClr val="56666E"/>
                </a:solidFill>
                <a:latin typeface="Arial"/>
                <a:ea typeface="Arial"/>
                <a:cs typeface="Arial"/>
              </a:defRPr>
            </a:lvl8pPr>
            <a:lvl9pPr>
              <a:defRPr sz="1275" b="0">
                <a:solidFill>
                  <a:srgbClr val="56666E"/>
                </a:solidFill>
                <a:latin typeface="Arial"/>
                <a:ea typeface="Arial"/>
                <a:cs typeface="Arial"/>
              </a:defRPr>
            </a:lvl9pPr>
          </a:lstStyle>
          <a:p xmlns:a="http://schemas.openxmlformats.org/drawingml/2006/main">
            <a:pPr>
              <a:defRPr sz="1275" b="0">
                <a:solidFill>
                  <a:srgbClr val="56666E"/>
                </a:solidFill>
                <a:latin typeface="Arial"/>
                <a:ea typeface="Arial"/>
                <a:cs typeface="Arial"/>
              </a:defRPr>
            </a:pPr>
            <a:r>
              <a:rPr sz="1275" b="0">
                <a:solidFill>
                  <a:srgbClr val="56666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D6754716-B733-4BB0-BCE7-C4B657554A8A}"/>
              </a:ext>
            </a:extLst>
          </p:cNvPr>
          <p:cNvSpPr>
            <a:spLocks xmlns:a="http://schemas.openxmlformats.org/drawingml/2006/main" noGrp="1"/>
          </p:cNvSpPr>
          <p:nvPr/>
        </p:nvSpPr>
        <p:spPr>
          <a:xfrm xmlns:a="http://schemas.openxmlformats.org/drawingml/2006/main">
            <a:off x="628650" y="1838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68EF698-3F5C-4491-B520-366CFE66CB63}"/>
              </a:ext>
            </a:extLst>
          </p:cNvPr>
          <p:cNvSpPr>
            <a:spLocks xmlns:a="http://schemas.openxmlformats.org/drawingml/2006/main" noGrp="1"/>
          </p:cNvSpPr>
          <p:nvPr/>
        </p:nvSpPr>
        <p:spPr>
          <a:xfrm xmlns:a="http://schemas.openxmlformats.org/drawingml/2006/main">
            <a:off x="1428750" y="180975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Five-chapter technical report and presentation materials.</a:t>
            </a:r>
          </a:p>
        </p:txBody>
      </p:sp>
      <p:sp>
        <p:nvSpPr>
          <p:cNvPr id="6" name="">
            <a:extLst xmlns:a="http://schemas.openxmlformats.org/drawingml/2006/main">
              <a:ext uri="{FF2B5EF4-FFF2-40B4-BE49-F238E27FC236}">
                <a16:creationId xmlns:a16="http://schemas.microsoft.com/office/drawing/2014/main" id="{3358B19E-2A10-4049-9F9A-63CCD4A944D4}"/>
              </a:ext>
            </a:extLst>
          </p:cNvPr>
          <p:cNvSpPr>
            <a:spLocks xmlns:a="http://schemas.openxmlformats.org/drawingml/2006/main" noGrp="1"/>
          </p:cNvSpPr>
          <p:nvPr/>
        </p:nvSpPr>
        <p:spPr>
          <a:xfrm xmlns:a="http://schemas.openxmlformats.org/drawingml/2006/main">
            <a:off x="628650" y="27051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A3F8640-E3A3-46D5-9A28-BB0923E8183F}"/>
              </a:ext>
            </a:extLst>
          </p:cNvPr>
          <p:cNvSpPr>
            <a:spLocks xmlns:a="http://schemas.openxmlformats.org/drawingml/2006/main" noGrp="1"/>
          </p:cNvSpPr>
          <p:nvPr/>
        </p:nvSpPr>
        <p:spPr>
          <a:xfrm xmlns:a="http://schemas.openxmlformats.org/drawingml/2006/main">
            <a:off x="1428750" y="2676525"/>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A 15-minute demo guide with expected results and fallbacks.</a:t>
            </a:r>
          </a:p>
        </p:txBody>
      </p:sp>
      <p:sp>
        <p:nvSpPr>
          <p:cNvPr id="8" name="">
            <a:extLst xmlns:a="http://schemas.openxmlformats.org/drawingml/2006/main">
              <a:ext uri="{FF2B5EF4-FFF2-40B4-BE49-F238E27FC236}">
                <a16:creationId xmlns:a16="http://schemas.microsoft.com/office/drawing/2014/main" id="{FEDBF5D3-4E37-411D-9601-4812E661B0C4}"/>
              </a:ext>
            </a:extLst>
          </p:cNvPr>
          <p:cNvSpPr>
            <a:spLocks xmlns:a="http://schemas.openxmlformats.org/drawingml/2006/main" noGrp="1"/>
          </p:cNvSpPr>
          <p:nvPr/>
        </p:nvSpPr>
        <p:spPr>
          <a:xfrm xmlns:a="http://schemas.openxmlformats.org/drawingml/2006/main">
            <a:off x="628650" y="35718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74C3547E-7946-4C78-A403-338DBE4D8F1F}"/>
              </a:ext>
            </a:extLst>
          </p:cNvPr>
          <p:cNvSpPr>
            <a:spLocks xmlns:a="http://schemas.openxmlformats.org/drawingml/2006/main" noGrp="1"/>
          </p:cNvSpPr>
          <p:nvPr/>
        </p:nvSpPr>
        <p:spPr>
          <a:xfrm xmlns:a="http://schemas.openxmlformats.org/drawingml/2006/main">
            <a:off x="1428750" y="35433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Group details, rehearsal and assessed delivery remain.</a:t>
            </a:r>
          </a:p>
        </p:txBody>
      </p:sp>
      <p:sp>
        <p:nvSpPr>
          <p:cNvPr id="10" name="">
            <a:extLst xmlns:a="http://schemas.openxmlformats.org/drawingml/2006/main">
              <a:ext uri="{FF2B5EF4-FFF2-40B4-BE49-F238E27FC236}">
                <a16:creationId xmlns:a16="http://schemas.microsoft.com/office/drawing/2014/main" id="{1261B094-D150-4A8E-BBCF-DFF57739AA15}"/>
              </a:ext>
            </a:extLst>
          </p:cNvPr>
          <p:cNvSpPr>
            <a:spLocks xmlns:a="http://schemas.openxmlformats.org/drawingml/2006/main" noGrp="1"/>
          </p:cNvSpPr>
          <p:nvPr/>
        </p:nvSpPr>
        <p:spPr>
          <a:xfrm xmlns:a="http://schemas.openxmlformats.org/drawingml/2006/main">
            <a:off x="628650" y="4438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06BF8D8D-5E63-4D69-8A48-591FBC14A021}"/>
              </a:ext>
            </a:extLst>
          </p:cNvPr>
          <p:cNvSpPr>
            <a:spLocks xmlns:a="http://schemas.openxmlformats.org/drawingml/2006/main" noGrp="1"/>
          </p:cNvSpPr>
          <p:nvPr/>
        </p:nvSpPr>
        <p:spPr>
          <a:xfrm xmlns:a="http://schemas.openxmlformats.org/drawingml/2006/main">
            <a:off x="1428750" y="4410075"/>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844"/>
                </a:solidFill>
                <a:latin typeface="Arial"/>
                <a:ea typeface="Arial"/>
                <a:cs typeface="Arial"/>
              </a:defRPr>
            </a:defPPr>
            <a:lvl1pPr>
              <a:defRPr sz="2175" b="0">
                <a:solidFill>
                  <a:srgbClr val="183844"/>
                </a:solidFill>
                <a:latin typeface="Arial"/>
                <a:ea typeface="Arial"/>
                <a:cs typeface="Arial"/>
              </a:defRPr>
            </a:lvl1pPr>
            <a:lvl2pPr>
              <a:defRPr sz="2175" b="0">
                <a:solidFill>
                  <a:srgbClr val="183844"/>
                </a:solidFill>
                <a:latin typeface="Arial"/>
                <a:ea typeface="Arial"/>
                <a:cs typeface="Arial"/>
              </a:defRPr>
            </a:lvl2pPr>
            <a:lvl3pPr>
              <a:defRPr sz="2175" b="0">
                <a:solidFill>
                  <a:srgbClr val="183844"/>
                </a:solidFill>
                <a:latin typeface="Arial"/>
                <a:ea typeface="Arial"/>
                <a:cs typeface="Arial"/>
              </a:defRPr>
            </a:lvl3pPr>
            <a:lvl4pPr>
              <a:defRPr sz="2175" b="0">
                <a:solidFill>
                  <a:srgbClr val="183844"/>
                </a:solidFill>
                <a:latin typeface="Arial"/>
                <a:ea typeface="Arial"/>
                <a:cs typeface="Arial"/>
              </a:defRPr>
            </a:lvl4pPr>
            <a:lvl5pPr>
              <a:defRPr sz="2175" b="0">
                <a:solidFill>
                  <a:srgbClr val="183844"/>
                </a:solidFill>
                <a:latin typeface="Arial"/>
                <a:ea typeface="Arial"/>
                <a:cs typeface="Arial"/>
              </a:defRPr>
            </a:lvl5pPr>
            <a:lvl6pPr>
              <a:defRPr sz="2175" b="0">
                <a:solidFill>
                  <a:srgbClr val="183844"/>
                </a:solidFill>
                <a:latin typeface="Arial"/>
                <a:ea typeface="Arial"/>
                <a:cs typeface="Arial"/>
              </a:defRPr>
            </a:lvl6pPr>
            <a:lvl7pPr>
              <a:defRPr sz="2175" b="0">
                <a:solidFill>
                  <a:srgbClr val="183844"/>
                </a:solidFill>
                <a:latin typeface="Arial"/>
                <a:ea typeface="Arial"/>
                <a:cs typeface="Arial"/>
              </a:defRPr>
            </a:lvl7pPr>
            <a:lvl8pPr>
              <a:defRPr sz="2175" b="0">
                <a:solidFill>
                  <a:srgbClr val="183844"/>
                </a:solidFill>
                <a:latin typeface="Arial"/>
                <a:ea typeface="Arial"/>
                <a:cs typeface="Arial"/>
              </a:defRPr>
            </a:lvl8pPr>
            <a:lvl9pPr>
              <a:defRPr sz="2175" b="0">
                <a:solidFill>
                  <a:srgbClr val="183844"/>
                </a:solidFill>
                <a:latin typeface="Arial"/>
                <a:ea typeface="Arial"/>
                <a:cs typeface="Arial"/>
              </a:defRPr>
            </a:lvl9pPr>
          </a:lstStyle>
          <a:p xmlns:a="http://schemas.openxmlformats.org/drawingml/2006/main">
            <a:pPr>
              <a:defRPr sz="2175" b="0">
                <a:solidFill>
                  <a:srgbClr val="183844"/>
                </a:solidFill>
                <a:latin typeface="Arial"/>
                <a:ea typeface="Arial"/>
                <a:cs typeface="Arial"/>
              </a:defRPr>
            </a:pPr>
            <a:r>
              <a:rPr sz="2175" b="0">
                <a:solidFill>
                  <a:srgbClr val="183844"/>
                </a:solidFill>
                <a:latin typeface="Arial"/>
                <a:ea typeface="Arial"/>
                <a:cs typeface="Arial"/>
              </a:rPr>
              <a:t>Next research step: genuine local data and temporal validation.</a:t>
            </a:r>
          </a:p>
        </p:txBody>
      </p:sp>
    </p:spTree>
    <p:extLst>
      <p:ext uri="{BB962C8B-B14F-4D97-AF65-F5344CB8AC3E}">
        <p14:creationId xmlns:p14="http://schemas.microsoft.com/office/powerpoint/2010/main" val="3884580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2026-10-26T08:09:05.5410000Z</dcterms:created>
  <dcterms:modified xsi:type="dcterms:W3CDTF">2026-10-26T08:09:05.5420000Z</dcterms:modified>
</coreProperties>
</file>